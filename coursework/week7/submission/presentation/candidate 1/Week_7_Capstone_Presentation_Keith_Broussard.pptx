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d512be1e35417b" /><Relationship Type="http://schemas.openxmlformats.org/officeDocument/2006/relationships/extended-properties" Target="/docProps/app.xml" Id="Rd8f3edb5de8b412c" /><Relationship Type="http://schemas.openxmlformats.org/officeDocument/2006/relationships/officeDocument" Target="/ppt/presentation.xml" Id="R8fdd60c3272a4213" /></Relationships>
</file>

<file path=ppt/presentation.xml><?xml version="1.0" encoding="utf-8"?>
<p:presentation xmlns:p="http://schemas.openxmlformats.org/presentationml/2006/main">
  <p:sldMasterIdLst>
    <p:sldMasterId xmlns:r="http://schemas.openxmlformats.org/officeDocument/2006/relationships" id="2147483648" r:id="R267741a2d09b479b"/>
  </p:sldMasterIdLst>
  <p:notesMasterIdLst>
    <p:notesMasterId xmlns:r="http://schemas.openxmlformats.org/officeDocument/2006/relationships" r:id="R9c32e6e17eef4e84"/>
  </p:notesMasterIdLst>
  <p:sldIdLst>
    <p:sldId xmlns:r="http://schemas.openxmlformats.org/officeDocument/2006/relationships" id="256" r:id="Rea59a5612e4445f4"/>
    <p:sldId xmlns:r="http://schemas.openxmlformats.org/officeDocument/2006/relationships" id="257" r:id="R84d2f4165e32416f"/>
    <p:sldId xmlns:r="http://schemas.openxmlformats.org/officeDocument/2006/relationships" id="258" r:id="R341b7279a7774cfb"/>
    <p:sldId xmlns:r="http://schemas.openxmlformats.org/officeDocument/2006/relationships" id="259" r:id="Rb8f695a117be4d38"/>
    <p:sldId xmlns:r="http://schemas.openxmlformats.org/officeDocument/2006/relationships" id="260" r:id="Reb299a484de54d3e"/>
    <p:sldId xmlns:r="http://schemas.openxmlformats.org/officeDocument/2006/relationships" id="261" r:id="Raf68b4af9bb8447e"/>
    <p:sldId xmlns:r="http://schemas.openxmlformats.org/officeDocument/2006/relationships" id="262" r:id="R3013c6b4c71e4adc"/>
    <p:sldId xmlns:r="http://schemas.openxmlformats.org/officeDocument/2006/relationships" id="263" r:id="Rf7da59862a1b4e18"/>
    <p:sldId xmlns:r="http://schemas.openxmlformats.org/officeDocument/2006/relationships" id="264" r:id="R6d5a97bb62b24e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2cd6fd6e416438b" /><Relationship Type="http://schemas.openxmlformats.org/officeDocument/2006/relationships/slideMaster" Target="/ppt/slideMasters/slideMaster1.xml" Id="R267741a2d09b479b" /><Relationship Type="http://schemas.openxmlformats.org/officeDocument/2006/relationships/notesMaster" Target="/ppt/notesMasters/notesMaster1.xml" Id="R9c32e6e17eef4e84" /><Relationship Type="http://schemas.openxmlformats.org/officeDocument/2006/relationships/presProps" Target="/ppt/presProps.xml" Id="Rd5c51fea6c6f455b" /><Relationship Type="http://schemas.openxmlformats.org/officeDocument/2006/relationships/viewProps" Target="/ppt/viewProps.xml" Id="Rfd5f62f0f7d44d15" /><Relationship Type="http://schemas.openxmlformats.org/officeDocument/2006/relationships/tableStyles" Target="/ppt/tableStyles.xml" Id="R3c922f87d50d43d6" /><Relationship Type="http://schemas.openxmlformats.org/officeDocument/2006/relationships/slide" Target="/ppt/slides/slide1.xml" Id="Rea59a5612e4445f4" /><Relationship Type="http://schemas.openxmlformats.org/officeDocument/2006/relationships/slide" Target="/ppt/slides/slide2.xml" Id="R84d2f4165e32416f" /><Relationship Type="http://schemas.openxmlformats.org/officeDocument/2006/relationships/slide" Target="/ppt/slides/slide3.xml" Id="R341b7279a7774cfb" /><Relationship Type="http://schemas.openxmlformats.org/officeDocument/2006/relationships/slide" Target="/ppt/slides/slide4.xml" Id="Rb8f695a117be4d38" /><Relationship Type="http://schemas.openxmlformats.org/officeDocument/2006/relationships/slide" Target="/ppt/slides/slide5.xml" Id="Reb299a484de54d3e" /><Relationship Type="http://schemas.openxmlformats.org/officeDocument/2006/relationships/slide" Target="/ppt/slides/slide6.xml" Id="Raf68b4af9bb8447e" /><Relationship Type="http://schemas.openxmlformats.org/officeDocument/2006/relationships/slide" Target="/ppt/slides/slide7.xml" Id="R3013c6b4c71e4adc" /><Relationship Type="http://schemas.openxmlformats.org/officeDocument/2006/relationships/slide" Target="/ppt/slides/slide8.xml" Id="Rf7da59862a1b4e18" /><Relationship Type="http://schemas.openxmlformats.org/officeDocument/2006/relationships/slide" Target="/ppt/slides/slide9.xml" Id="R6d5a97bb62b24e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8316d2c66c49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28d2a676e74205" /><Relationship Type="http://schemas.openxmlformats.org/officeDocument/2006/relationships/notesMaster" Target="/ppt/notesMasters/notesMaster1.xml" Id="Ra1f34db7248445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3ac3e6cb9445c5" /><Relationship Type="http://schemas.openxmlformats.org/officeDocument/2006/relationships/notesMaster" Target="/ppt/notesMasters/notesMaster1.xml" Id="R9943efea15d349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569cfb154c4bac" /><Relationship Type="http://schemas.openxmlformats.org/officeDocument/2006/relationships/notesMaster" Target="/ppt/notesMasters/notesMaster1.xml" Id="R66c3038559de4b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82fc696c8a47fd" /><Relationship Type="http://schemas.openxmlformats.org/officeDocument/2006/relationships/notesMaster" Target="/ppt/notesMasters/notesMaster1.xml" Id="Rc36253a4b58b4d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8538fb9d7641a4" /><Relationship Type="http://schemas.openxmlformats.org/officeDocument/2006/relationships/notesMaster" Target="/ppt/notesMasters/notesMaster1.xml" Id="R0ba39cf977714b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04109af2974a71" /><Relationship Type="http://schemas.openxmlformats.org/officeDocument/2006/relationships/notesMaster" Target="/ppt/notesMasters/notesMaster1.xml" Id="R3bf716f3d7d84a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16a7d3a7a64554" /><Relationship Type="http://schemas.openxmlformats.org/officeDocument/2006/relationships/notesMaster" Target="/ppt/notesMasters/notesMaster1.xml" Id="R7d0aaa29644f47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748d55b07f48f4" /><Relationship Type="http://schemas.openxmlformats.org/officeDocument/2006/relationships/notesMaster" Target="/ppt/notesMasters/notesMaster1.xml" Id="Re79dab27ff7d4a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e48b2bd9b148c3" /><Relationship Type="http://schemas.openxmlformats.org/officeDocument/2006/relationships/notesMaster" Target="/ppt/notesMasters/notesMaster1.xml" Id="Rbf59c2383a054f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0:00-0:20</a:t>
            </a:r>
          </a:p>
          <a:p xmlns:a="http://schemas.openxmlformats.org/drawingml/2006/main">
            <a:endParaRPr/>
          </a:p>
          <a:p xmlns:a="http://schemas.openxmlformats.org/drawingml/2006/main">
            <a:r>
              <a:t>This project examines whether a transparent machine-learning system can help people identify urgent email without creating unacceptable risk. I will explain the problem, how I evaluated the model, what testing revealed, and why the software is ready to demonstrate even though the model still requires revision.</a:t>
            </a:r>
          </a:p>
          <a:p xmlns:a="http://schemas.openxmlformats.org/drawingml/2006/main">
            <a:endParaRPr/>
          </a:p>
          <a:p xmlns:a="http://schemas.openxmlformats.org/drawingml/2006/main">
            <a:r>
              <a:t>[Sources]</a:t>
            </a:r>
          </a:p>
          <a:p xmlns:a="http://schemas.openxmlformats.org/drawingml/2006/main">
            <a:r>
              <a:t>- README.md</a:t>
            </a:r>
          </a:p>
          <a:p xmlns:a="http://schemas.openxmlformats.org/drawingml/2006/main">
            <a:r>
              <a:t>- docs/project_review_guide.md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0:20-1:05</a:t>
            </a:r>
          </a:p>
          <a:p xmlns:a="http://schemas.openxmlformats.org/drawingml/2006/main">
            <a:endParaRPr/>
          </a:p>
          <a:p xmlns:a="http://schemas.openxmlformats.org/drawingml/2006/main">
            <a:r>
              <a:t>The operational need is straightforward. Urgent messages can be missed when people must sort a high-volume inbox manually. The model is intended to prioritize review, not replace judgment or take action on email. Both error directions matter. A false negative can hide urgent work, while a false positive adds review burden and can reduce trust in the tool. For that reason, explanations and human oversight are part of the design boundary. Every score remains a recommendation for review, not an automatic routing decision.</a:t>
            </a:r>
          </a:p>
          <a:p xmlns:a="http://schemas.openxmlformats.org/drawingml/2006/main">
            <a:endParaRPr/>
          </a:p>
          <a:p xmlns:a="http://schemas.openxmlformats.org/drawingml/2006/main">
            <a:r>
              <a:t>[Sources]</a:t>
            </a:r>
          </a:p>
          <a:p xmlns:a="http://schemas.openxmlformats.org/drawingml/2006/main">
            <a:r>
              <a:t>- README.md</a:t>
            </a:r>
          </a:p>
          <a:p xmlns:a="http://schemas.openxmlformats.org/drawingml/2006/main">
            <a:r>
              <a:t>- docs/decisions.md</a:t>
            </a:r>
          </a:p>
          <a:p xmlns:a="http://schemas.openxmlformats.org/drawingml/2006/main">
            <a:r>
              <a:t>- docs/week6_experiment_record.md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1:05-1:55</a:t>
            </a:r>
          </a:p>
          <a:p xmlns:a="http://schemas.openxmlformats.org/drawingml/2006/main">
            <a:endParaRPr/>
          </a:p>
          <a:p xmlns:a="http://schemas.openxmlformats.org/drawingml/2006/main">
            <a:r>
              <a:t>The source collection contains 517,401 Enron email records, but the modeling evidence is intentionally much narrower. I used 199 manually reviewed messages: 169 nonurgent and 30 urgent. A fixed stratified split placed 159 messages in training and 40 in a preliminary holdout. Urgency-enriched sampling supplied enough positive examples for the research exercise, so the labeled class share is not an estimate of a normal mailbox. The sample supports controlled experimentation, but not broad operational reliability. Raw message content and reviewer notes remain excluded from the repository, and demographic fairness was not tested because protected demographic fields were unavailable.</a:t>
            </a:r>
          </a:p>
          <a:p xmlns:a="http://schemas.openxmlformats.org/drawingml/2006/main">
            <a:endParaRPr/>
          </a:p>
          <a:p xmlns:a="http://schemas.openxmlformats.org/drawingml/2006/main">
            <a:r>
              <a:t>[Sources]</a:t>
            </a:r>
          </a:p>
          <a:p xmlns:a="http://schemas.openxmlformats.org/drawingml/2006/main">
            <a:r>
              <a:t>- data/labels/enron_urgency_labels_v1.csv</a:t>
            </a:r>
          </a:p>
          <a:p xmlns:a="http://schemas.openxmlformats.org/drawingml/2006/main">
            <a:r>
              <a:t>- results/metrics/week6_reproducibility.json</a:t>
            </a:r>
          </a:p>
          <a:p xmlns:a="http://schemas.openxmlformats.org/drawingml/2006/main">
            <a:r>
              <a:t>- docs/week6_experiment_record.md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1:55-2:50</a:t>
            </a:r>
          </a:p>
          <a:p xmlns:a="http://schemas.openxmlformats.org/drawingml/2006/main">
            <a:endParaRPr/>
          </a:p>
          <a:p xmlns:a="http://schemas.openxmlformats.org/drawingml/2006/main">
            <a:r>
              <a:t>The project advanced through controlled checkpoints. The Week 3 baseline established a reproducible TF-IDF and logistic-regression reference model. Week 4 tested 24 class-balanced configurations using five-fold cross-validation and added global and case-level SHAP explanations. Week 6 separated threshold selection from evaluation through nested cross-validation, then froze the decision before the preliminary holdout comparison. Week 7 added a separate readiness framework. Gate A tests whether the software can support a safe local demonstration. Gate B tests predictive reliability. This separation prevents a functioning interface from being treated as proof that the classifier is reliable.</a:t>
            </a:r>
          </a:p>
          <a:p xmlns:a="http://schemas.openxmlformats.org/drawingml/2006/main">
            <a:endParaRPr/>
          </a:p>
          <a:p xmlns:a="http://schemas.openxmlformats.org/drawingml/2006/main">
            <a:r>
              <a:t>[Sources]</a:t>
            </a:r>
          </a:p>
          <a:p xmlns:a="http://schemas.openxmlformats.org/drawingml/2006/main">
            <a:r>
              <a:t>- notebooks/baseline_model.ipynb</a:t>
            </a:r>
          </a:p>
          <a:p xmlns:a="http://schemas.openxmlformats.org/drawingml/2006/main">
            <a:r>
              <a:t>- notebooks/week4_model_optimization.ipynb</a:t>
            </a:r>
          </a:p>
          <a:p xmlns:a="http://schemas.openxmlformats.org/drawingml/2006/main">
            <a:r>
              <a:t>- notebooks/week6_testing_debugging.ipynb</a:t>
            </a:r>
          </a:p>
          <a:p xmlns:a="http://schemas.openxmlformats.org/drawingml/2006/main">
            <a:r>
              <a:t>- docs/week7_conditional_advancement_gates.md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2:50-3:45</a:t>
            </a:r>
          </a:p>
          <a:p xmlns:a="http://schemas.openxmlformats.org/drawingml/2006/main">
            <a:endParaRPr/>
          </a:p>
          <a:p xmlns:a="http://schemas.openxmlformats.org/drawingml/2006/main">
            <a:r>
              <a:t>I tested 24 class-balanced configurations and selected the strongest training candidate. Its mean cross-validated urgent F1 increased from 6.7 to 11.4 percent, and urgent recall doubled from 4 to 8 percent. The feature space also decreased from 4,097 to 2,895 features. However, the preliminary holdout result did not improve. Urgent F1 remained 44.4 percent, with four false negatives and one false positive. The optimization made the model smaller and improved the training evidence, but it did not establish generalization. The complete selected configuration is documented in the repository.</a:t>
            </a:r>
          </a:p>
          <a:p xmlns:a="http://schemas.openxmlformats.org/drawingml/2006/main">
            <a:endParaRPr/>
          </a:p>
          <a:p xmlns:a="http://schemas.openxmlformats.org/drawingml/2006/main">
            <a:r>
              <a:t>[Sources]</a:t>
            </a:r>
          </a:p>
          <a:p xmlns:a="http://schemas.openxmlformats.org/drawingml/2006/main">
            <a:r>
              <a:t>- notebooks/week4_model_optimization.ipynb</a:t>
            </a:r>
          </a:p>
          <a:p xmlns:a="http://schemas.openxmlformats.org/drawingml/2006/main">
            <a:r>
              <a:t>- results/metrics/week4_cv_summary.csv</a:t>
            </a:r>
          </a:p>
          <a:p xmlns:a="http://schemas.openxmlformats.org/drawingml/2006/main">
            <a:r>
              <a:t>- results/metrics/week4_model_comparison.csv</a:t>
            </a:r>
          </a:p>
          <a:p xmlns:a="http://schemas.openxmlformats.org/drawingml/2006/main">
            <a:r>
              <a:t>- docs/week4_experiment_record.md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3:45-4:55</a:t>
            </a:r>
          </a:p>
          <a:p xmlns:a="http://schemas.openxmlformats.org/drawingml/2006/main">
            <a:endParaRPr/>
          </a:p>
          <a:p xmlns:a="http://schemas.openxmlformats.org/drawingml/2006/main">
            <a:r>
              <a:t>Week 6 threshold testing exposed the central reliability problem. At 0.45, urgent recall reached 100 percent, but only because every one of the 159 training messages was labeled urgent. That created 135 false positives and reduced triage to reviewing everything. At 0.50, the model produced no false positives in the outer-fold predictions, but it found only 2 of 24 urgent messages. Recall fell to 8.3 percent, with 22 false negatives. The probability scores were also highly compressed: 157 of 159 out-of-fold probabilities fell from 0.45 to below 0.50. A small threshold change therefore flips nearly the entire workload. Neither operating point balances urgent-message detection with a manageable review burden, so changing the threshold alone does not solve the problem.</a:t>
            </a:r>
          </a:p>
          <a:p xmlns:a="http://schemas.openxmlformats.org/drawingml/2006/main">
            <a:endParaRPr/>
          </a:p>
          <a:p xmlns:a="http://schemas.openxmlformats.org/drawingml/2006/main">
            <a:r>
              <a:t>[Sources]</a:t>
            </a:r>
          </a:p>
          <a:p xmlns:a="http://schemas.openxmlformats.org/drawingml/2006/main">
            <a:r>
              <a:t>- notebooks/week6_testing_debugging.ipynb</a:t>
            </a:r>
          </a:p>
          <a:p xmlns:a="http://schemas.openxmlformats.org/drawingml/2006/main">
            <a:r>
              <a:t>- results/metrics/week6_threshold_analysis.csv</a:t>
            </a:r>
          </a:p>
          <a:p xmlns:a="http://schemas.openxmlformats.org/drawingml/2006/main">
            <a:r>
              <a:t>- results/metrics/week6_outer_predictions.csv</a:t>
            </a:r>
          </a:p>
          <a:p xmlns:a="http://schemas.openxmlformats.org/drawingml/2006/main">
            <a:r>
              <a:t>- results/figures/week6_confusion_matrices.png</a:t>
            </a:r>
          </a:p>
          <a:p xmlns:a="http://schemas.openxmlformats.org/drawingml/2006/main">
            <a:r>
              <a:t>- docs/week6_experiment_record.md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4:55-5:45</a:t>
            </a:r>
          </a:p>
          <a:p xmlns:a="http://schemas.openxmlformats.org/drawingml/2006/main">
            <a:endParaRPr/>
          </a:p>
          <a:p xmlns:a="http://schemas.openxmlformats.org/drawingml/2006/main">
            <a:r>
              <a:t>The evidence supports two different conclusions. First, Gate A passed. All 13 automated tests passed, and the validator completed 60 deterministic synthetic inference runs while checking visible thresholds, bounded explanations, privacy-safe output, input validation, human-review status, and safe failure when the local model was unavailable. Second, the predictive disposition remains revise because Gate B failed. The working FastAPI demonstration shows that the research workflow can be presented repeatably. It does not establish predictive reliability, authorize shadow testing, or approve production deployment. No automated email action is permitted, and the locally generated model artifact remains excluded from Git.</a:t>
            </a:r>
          </a:p>
          <a:p xmlns:a="http://schemas.openxmlformats.org/drawingml/2006/main">
            <a:endParaRPr/>
          </a:p>
          <a:p xmlns:a="http://schemas.openxmlformats.org/drawingml/2006/main">
            <a:r>
              <a:t>[Sources]</a:t>
            </a:r>
          </a:p>
          <a:p xmlns:a="http://schemas.openxmlformats.org/drawingml/2006/main">
            <a:r>
              <a:t>- docs/week7_automated_test_report.md</a:t>
            </a:r>
          </a:p>
          <a:p xmlns:a="http://schemas.openxmlformats.org/drawingml/2006/main">
            <a:r>
              <a:t>- results/metrics/week7_demo_validation.json</a:t>
            </a:r>
          </a:p>
          <a:p xmlns:a="http://schemas.openxmlformats.org/drawingml/2006/main">
            <a:r>
              <a:t>- results/metrics/week7_readiness_gate_evaluation.csv</a:t>
            </a:r>
          </a:p>
          <a:p xmlns:a="http://schemas.openxmlformats.org/drawingml/2006/main">
            <a:r>
              <a:t>- docs/week7_readiness_evaluation.md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5:45-6:20</a:t>
            </a:r>
          </a:p>
          <a:p xmlns:a="http://schemas.openxmlformats.org/drawingml/2006/main">
            <a:endParaRPr/>
          </a:p>
          <a:p xmlns:a="http://schemas.openxmlformats.org/drawingml/2006/main">
            <a:r>
              <a:t>The next work should improve the evidence, not expand deployment claims. Increase the reviewed sample, preserve a truly untouched final test set, and investigate calibration, vocabulary coverage, and the failure patterns behind both error types. Then repeat the controlled evaluation under the same privacy, reproducibility, workload, and human-approval gates. The software workflow is ready to demonstrate, while the classifier still needs better evidence before any operational recommendation.</a:t>
            </a:r>
          </a:p>
          <a:p xmlns:a="http://schemas.openxmlformats.org/drawingml/2006/main">
            <a:endParaRPr/>
          </a:p>
          <a:p xmlns:a="http://schemas.openxmlformats.org/drawingml/2006/main">
            <a:r>
              <a:t>[Sources]</a:t>
            </a:r>
          </a:p>
          <a:p xmlns:a="http://schemas.openxmlformats.org/drawingml/2006/main">
            <a:r>
              <a:t>- docs/project_review_guide.md</a:t>
            </a:r>
          </a:p>
          <a:p xmlns:a="http://schemas.openxmlformats.org/drawingml/2006/main">
            <a:r>
              <a:t>- docs/week7_conditional_advancement_gates.md</a:t>
            </a:r>
          </a:p>
          <a:p xmlns:a="http://schemas.openxmlformats.org/drawingml/2006/main">
            <a:r>
              <a:t>- docs/week7_demo_runbook.md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6:20-6:40</a:t>
            </a:r>
          </a:p>
          <a:p xmlns:a="http://schemas.openxmlformats.org/drawingml/2006/main">
            <a:endParaRPr/>
          </a:p>
          <a:p xmlns:a="http://schemas.openxmlformats.org/drawingml/2006/main">
            <a:r>
              <a:t>The project repository is shown on this slide. It contains the code, executed notebooks, test results, decision records, and reproducibility guidance. I can be reached at the university email shown. Thank you.</a:t>
            </a:r>
          </a:p>
          <a:p xmlns:a="http://schemas.openxmlformats.org/drawingml/2006/main">
            <a:endParaRPr/>
          </a:p>
          <a:p xmlns:a="http://schemas.openxmlformats.org/drawingml/2006/main">
            <a:r>
              <a:t>[Sources]</a:t>
            </a:r>
          </a:p>
          <a:p xmlns:a="http://schemas.openxmlformats.org/drawingml/2006/main">
            <a:r>
              <a:t>- https://github.com/kbroussard34749/explainable-ai-email-triage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2b645e5b3a4b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f8329cf0354283" /><Relationship Type="http://schemas.openxmlformats.org/officeDocument/2006/relationships/slideLayout" Target="/ppt/slideLayouts/slideLayout1.xml" Id="R50637334c0ba45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637334c0ba45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5ef8491ac24534" /><Relationship Type="http://schemas.openxmlformats.org/officeDocument/2006/relationships/notesSlide" Target="/ppt/notesSlides/notesSlide1.xml" Id="R760d4bc94aa247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9bedf2440b4966" /><Relationship Type="http://schemas.openxmlformats.org/officeDocument/2006/relationships/notesSlide" Target="/ppt/notesSlides/notesSlide2.xml" Id="R0b8aefa1fce141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10411c02744d39" /><Relationship Type="http://schemas.openxmlformats.org/officeDocument/2006/relationships/notesSlide" Target="/ppt/notesSlides/notesSlide3.xml" Id="Rf8994a08b83645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d67ceae6074895" /><Relationship Type="http://schemas.openxmlformats.org/officeDocument/2006/relationships/notesSlide" Target="/ppt/notesSlides/notesSlide4.xml" Id="R6c3f4a10856044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0f24014edf84c73" /><Relationship Type="http://schemas.openxmlformats.org/officeDocument/2006/relationships/notesSlide" Target="/ppt/notesSlides/notesSlide5.xml" Id="Rcfe12e782c4c48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4251ba420b4676" /><Relationship Type="http://schemas.openxmlformats.org/officeDocument/2006/relationships/image" Target="/ppt/media/image.png" Id="Rea7ef4f26b8244d3" /><Relationship Type="http://schemas.openxmlformats.org/officeDocument/2006/relationships/notesSlide" Target="/ppt/notesSlides/notesSlide6.xml" Id="R1e0697038a6c4c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a471f321234271" /><Relationship Type="http://schemas.openxmlformats.org/officeDocument/2006/relationships/notesSlide" Target="/ppt/notesSlides/notesSlide7.xml" Id="R961f7cf19e8b49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b5d099891b412f" /><Relationship Type="http://schemas.openxmlformats.org/officeDocument/2006/relationships/notesSlide" Target="/ppt/notesSlides/notesSlide8.xml" Id="R6d19df9ee8cb43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581e9a6aa994db1" /><Relationship Type="http://schemas.openxmlformats.org/officeDocument/2006/relationships/hyperlink" Target="https://github.com/kbroussard34749/explainable-ai-email-triage" TargetMode="External" Id="R514fa381a51a4618" /><Relationship Type="http://schemas.openxmlformats.org/officeDocument/2006/relationships/hyperlink" Target="https://github.com/kbroussard34749/explainable-ai-email-triage" TargetMode="External" Id="R4df0c4473ef749d5" /><Relationship Type="http://schemas.openxmlformats.org/officeDocument/2006/relationships/hyperlink" Target="https://github.com/kbroussard34749/explainable-ai-email-triage" TargetMode="External" Id="R0e1cee73ef114800" /><Relationship Type="http://schemas.openxmlformats.org/officeDocument/2006/relationships/hyperlink" Target="https://github.com/kbroussard34749/explainable-ai-email-triage" TargetMode="External" Id="R4fc9d3cfbb6f4775" /><Relationship Type="http://schemas.openxmlformats.org/officeDocument/2006/relationships/hyperlink" Target="mailto:kbroussard34749@ucumberlands.edu?subject=Explainable AI Email Triage" TargetMode="External" Id="R8d304fdd58984157" /><Relationship Type="http://schemas.openxmlformats.org/officeDocument/2006/relationships/notesSlide" Target="/ppt/notesSlides/notesSlide9.xml" Id="R457d3ccd30314d7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7A191C92-05C3-4BE3-8008-DE2708A77D76}"/>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0000"/>
              </a:lnSpc>
              <a:buNone/>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Explainable AI
Email Triage</a:t>
            </a:r>
          </a:p>
        </p:txBody>
      </p:sp>
      <p:sp>
        <p:nvSpPr>
          <p:cNvPr id="2" name="Subtitle-4-2">
            <a:extLst xmlns:a="http://schemas.openxmlformats.org/drawingml/2006/main">
              <a:ext uri="{FF2B5EF4-FFF2-40B4-BE49-F238E27FC236}">
                <a16:creationId xmlns:a16="http://schemas.microsoft.com/office/drawing/2014/main" id="{AEE88714-FEEC-4322-9650-FF4D6B2AF25C}"/>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A research prototype evaluated for urgent-message prioritization
Keith G. Broussard | Summer 2026</a:t>
            </a:r>
          </a:p>
        </p:txBody>
      </p:sp>
      <p:sp>
        <p:nvSpPr>
          <p:cNvPr id="3" name="Subtitle-4-3">
            <a:extLst xmlns:a="http://schemas.openxmlformats.org/drawingml/2006/main">
              <a:ext uri="{FF2B5EF4-FFF2-40B4-BE49-F238E27FC236}">
                <a16:creationId xmlns:a16="http://schemas.microsoft.com/office/drawing/2014/main" id="{21C72EA5-65FA-4BD4-93D4-ED2D052F8F68}"/>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MSAI 699 CAPSTONE | WEEK 7</a:t>
            </a:r>
          </a:p>
        </p:txBody>
      </p:sp>
    </p:spTree>
    <p:extLst>
      <p:ext uri="{BB962C8B-B14F-4D97-AF65-F5344CB8AC3E}">
        <p14:creationId xmlns:p14="http://schemas.microsoft.com/office/powerpoint/2010/main" val="27957521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Google-Shape-532-p58-2">
            <a:extLst xmlns:a="http://schemas.openxmlformats.org/drawingml/2006/main">
              <a:ext uri="{FF2B5EF4-FFF2-40B4-BE49-F238E27FC236}">
                <a16:creationId xmlns:a16="http://schemas.microsoft.com/office/drawing/2014/main" id="{AD19577C-0F8E-4902-8A0E-250496192D7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0000"/>
              </a:lnSpc>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2</a:t>
            </a:r>
          </a:p>
        </p:txBody>
      </p:sp>
      <p:sp>
        <p:nvSpPr>
          <p:cNvPr id="2" name="Google-Shape-533-p58-3">
            <a:extLst xmlns:a="http://schemas.openxmlformats.org/drawingml/2006/main">
              <a:ext uri="{FF2B5EF4-FFF2-40B4-BE49-F238E27FC236}">
                <a16:creationId xmlns:a16="http://schemas.microsoft.com/office/drawing/2014/main" id="{F8CC2AF5-FF75-46A9-B887-0756DD12674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The goal is prioritization—not autonomous decision-making</a:t>
            </a:r>
          </a:p>
        </p:txBody>
      </p:sp>
      <p:sp>
        <p:nvSpPr>
          <p:cNvPr id="3" name="Google-Shape-534-p58-4">
            <a:extLst xmlns:a="http://schemas.openxmlformats.org/drawingml/2006/main">
              <a:ext uri="{FF2B5EF4-FFF2-40B4-BE49-F238E27FC236}">
                <a16:creationId xmlns:a16="http://schemas.microsoft.com/office/drawing/2014/main" id="{2902B404-7A46-4392-A47F-EB8645C81B06}"/>
              </a:ext>
            </a:extLst>
          </p:cNvPr>
          <p:cNvSpPr>
            <a:spLocks xmlns:a="http://schemas.openxmlformats.org/drawingml/2006/main" noGrp="1"/>
          </p:cNvSpPr>
          <p:nvPr/>
        </p:nvSpPr>
        <p:spPr>
          <a:xfrm xmlns:a="http://schemas.openxmlformats.org/drawingml/2006/main">
            <a:off x="393668" y="2031968"/>
            <a:ext cx="5537168" cy="1524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Operational need</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Important messages can be buried in a high-volume inbox. A useful triage tool should surface urgent items consistently and explain what influenced each score.</a:t>
            </a:r>
          </a:p>
        </p:txBody>
      </p:sp>
      <p:sp>
        <p:nvSpPr>
          <p:cNvPr id="4" name="Content-Placeholder-3-5">
            <a:extLst xmlns:a="http://schemas.openxmlformats.org/drawingml/2006/main">
              <a:ext uri="{FF2B5EF4-FFF2-40B4-BE49-F238E27FC236}">
                <a16:creationId xmlns:a16="http://schemas.microsoft.com/office/drawing/2014/main" id="{A35D5CC3-0AF1-456F-B031-3CE7ACB43883}"/>
              </a:ext>
            </a:extLst>
          </p:cNvPr>
          <p:cNvSpPr>
            <a:spLocks xmlns:a="http://schemas.openxmlformats.org/drawingml/2006/main" noGrp="1"/>
          </p:cNvSpPr>
          <p:nvPr/>
        </p:nvSpPr>
        <p:spPr>
          <a:xfrm xmlns:a="http://schemas.openxmlformats.org/drawingml/2006/main">
            <a:off x="6256592" y="2031968"/>
            <a:ext cx="5537168" cy="1524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Risk boundary</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False negatives can hide urgent work. False positives create review burden. The system therefore remains decision support with human review—not an automatic routing authority.</a:t>
            </a:r>
          </a:p>
        </p:txBody>
      </p:sp>
      <p:sp>
        <p:nvSpPr>
          <p:cNvPr id="6" name="decision-support-flow-line">
            <a:extLst xmlns:a="http://schemas.openxmlformats.org/drawingml/2006/main">
              <a:ext uri="{FF2B5EF4-FFF2-40B4-BE49-F238E27FC236}">
                <a16:creationId xmlns:a16="http://schemas.microsoft.com/office/drawing/2014/main" id="{16384741-1E2F-4970-857F-5C28AC6C2C7A}"/>
              </a:ext>
            </a:extLst>
          </p:cNvPr>
          <p:cNvSpPr>
            <a:spLocks xmlns:a="http://schemas.openxmlformats.org/drawingml/2006/main" noGrp="1"/>
          </p:cNvSpPr>
          <p:nvPr/>
        </p:nvSpPr>
        <p:spPr>
          <a:xfrm xmlns:a="http://schemas.openxmlformats.org/drawingml/2006/main">
            <a:off x="619125" y="4381500"/>
            <a:ext cx="10953750" cy="0"/>
          </a:xfrm>
          <a:prstGeom xmlns:a="http://schemas.openxmlformats.org/drawingml/2006/main" prst="line">
            <a:avLst/>
          </a:prstGeom>
          <a:noFill xmlns:a="http://schemas.openxmlformats.org/drawingml/2006/main"/>
          <a:ln xmlns:a="http://schemas.openxmlformats.org/drawingml/2006/main" w="14288">
            <a:solidFill>
              <a:srgbClr val="000000"/>
            </a:solidFill>
            <a:prstDash val="solid"/>
          </a:ln>
        </p:spPr>
      </p:sp>
      <p:sp>
        <p:nvSpPr>
          <p:cNvPr id="7" name="decision-support-node-1">
            <a:extLst xmlns:a="http://schemas.openxmlformats.org/drawingml/2006/main">
              <a:ext uri="{FF2B5EF4-FFF2-40B4-BE49-F238E27FC236}">
                <a16:creationId xmlns:a16="http://schemas.microsoft.com/office/drawing/2014/main" id="{0D75972F-6158-4DFF-BBAC-F1398B220027}"/>
              </a:ext>
            </a:extLst>
          </p:cNvPr>
          <p:cNvSpPr>
            <a:spLocks xmlns:a="http://schemas.openxmlformats.org/drawingml/2006/main" noGrp="1"/>
          </p:cNvSpPr>
          <p:nvPr/>
        </p:nvSpPr>
        <p:spPr>
          <a:xfrm xmlns:a="http://schemas.openxmlformats.org/drawingml/2006/main">
            <a:off x="571500" y="4324350"/>
            <a:ext cx="114300" cy="1143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8" name="decision-support-node-2">
            <a:extLst xmlns:a="http://schemas.openxmlformats.org/drawingml/2006/main">
              <a:ext uri="{FF2B5EF4-FFF2-40B4-BE49-F238E27FC236}">
                <a16:creationId xmlns:a16="http://schemas.microsoft.com/office/drawing/2014/main" id="{501A02B9-9923-46CF-BFEB-3E3C60A79DE9}"/>
              </a:ext>
            </a:extLst>
          </p:cNvPr>
          <p:cNvSpPr>
            <a:spLocks xmlns:a="http://schemas.openxmlformats.org/drawingml/2006/main" noGrp="1"/>
          </p:cNvSpPr>
          <p:nvPr/>
        </p:nvSpPr>
        <p:spPr>
          <a:xfrm xmlns:a="http://schemas.openxmlformats.org/drawingml/2006/main">
            <a:off x="4486275" y="4324350"/>
            <a:ext cx="114300" cy="1143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9" name="decision-support-node-3">
            <a:extLst xmlns:a="http://schemas.openxmlformats.org/drawingml/2006/main">
              <a:ext uri="{FF2B5EF4-FFF2-40B4-BE49-F238E27FC236}">
                <a16:creationId xmlns:a16="http://schemas.microsoft.com/office/drawing/2014/main" id="{60A3BD58-083F-4CDC-9170-F56C565B6E8D}"/>
              </a:ext>
            </a:extLst>
          </p:cNvPr>
          <p:cNvSpPr>
            <a:spLocks xmlns:a="http://schemas.openxmlformats.org/drawingml/2006/main" noGrp="1"/>
          </p:cNvSpPr>
          <p:nvPr/>
        </p:nvSpPr>
        <p:spPr>
          <a:xfrm xmlns:a="http://schemas.openxmlformats.org/drawingml/2006/main">
            <a:off x="8410575" y="4324350"/>
            <a:ext cx="114300" cy="1143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10" name="decision-support-stage-1">
            <a:extLst xmlns:a="http://schemas.openxmlformats.org/drawingml/2006/main">
              <a:ext uri="{FF2B5EF4-FFF2-40B4-BE49-F238E27FC236}">
                <a16:creationId xmlns:a16="http://schemas.microsoft.com/office/drawing/2014/main" id="{9E440284-D845-4AAD-862D-8992486D766A}"/>
              </a:ext>
            </a:extLst>
          </p:cNvPr>
          <p:cNvSpPr>
            <a:spLocks xmlns:a="http://schemas.openxmlformats.org/drawingml/2006/main" noGrp="1"/>
          </p:cNvSpPr>
          <p:nvPr/>
        </p:nvSpPr>
        <p:spPr>
          <a:xfrm xmlns:a="http://schemas.openxmlformats.org/drawingml/2006/main">
            <a:off x="393668" y="3905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INPUT</a:t>
            </a:r>
          </a:p>
        </p:txBody>
      </p:sp>
      <p:sp>
        <p:nvSpPr>
          <p:cNvPr id="11" name="decision-support-heading-1">
            <a:extLst xmlns:a="http://schemas.openxmlformats.org/drawingml/2006/main">
              <a:ext uri="{FF2B5EF4-FFF2-40B4-BE49-F238E27FC236}">
                <a16:creationId xmlns:a16="http://schemas.microsoft.com/office/drawing/2014/main" id="{5852F694-A9DD-45F0-B827-A2BACEE160C3}"/>
              </a:ext>
            </a:extLst>
          </p:cNvPr>
          <p:cNvSpPr>
            <a:spLocks xmlns:a="http://schemas.openxmlformats.org/drawingml/2006/main" noGrp="1"/>
          </p:cNvSpPr>
          <p:nvPr/>
        </p:nvSpPr>
        <p:spPr>
          <a:xfrm xmlns:a="http://schemas.openxmlformats.org/drawingml/2006/main">
            <a:off x="393668" y="46291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Incoming email</a:t>
            </a:r>
          </a:p>
        </p:txBody>
      </p:sp>
      <p:sp>
        <p:nvSpPr>
          <p:cNvPr id="12" name="decision-support-description-1">
            <a:extLst xmlns:a="http://schemas.openxmlformats.org/drawingml/2006/main">
              <a:ext uri="{FF2B5EF4-FFF2-40B4-BE49-F238E27FC236}">
                <a16:creationId xmlns:a16="http://schemas.microsoft.com/office/drawing/2014/main" id="{349FF16B-EADD-47E7-98F8-D29F13AD98D9}"/>
              </a:ext>
            </a:extLst>
          </p:cNvPr>
          <p:cNvSpPr>
            <a:spLocks xmlns:a="http://schemas.openxmlformats.org/drawingml/2006/main" noGrp="1"/>
          </p:cNvSpPr>
          <p:nvPr/>
        </p:nvSpPr>
        <p:spPr>
          <a:xfrm xmlns:a="http://schemas.openxmlformats.org/drawingml/2006/main">
            <a:off x="393668" y="509587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A message enters the local workflow for review.</a:t>
            </a:r>
          </a:p>
        </p:txBody>
      </p:sp>
      <p:sp>
        <p:nvSpPr>
          <p:cNvPr id="13" name="decision-support-stage-2">
            <a:extLst xmlns:a="http://schemas.openxmlformats.org/drawingml/2006/main">
              <a:ext uri="{FF2B5EF4-FFF2-40B4-BE49-F238E27FC236}">
                <a16:creationId xmlns:a16="http://schemas.microsoft.com/office/drawing/2014/main" id="{CED85AEB-F9AF-4844-98C5-BA37E920CD8E}"/>
              </a:ext>
            </a:extLst>
          </p:cNvPr>
          <p:cNvSpPr>
            <a:spLocks xmlns:a="http://schemas.openxmlformats.org/drawingml/2006/main" noGrp="1"/>
          </p:cNvSpPr>
          <p:nvPr/>
        </p:nvSpPr>
        <p:spPr>
          <a:xfrm xmlns:a="http://schemas.openxmlformats.org/drawingml/2006/main">
            <a:off x="4311682" y="3905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MODEL SUPPORT</a:t>
            </a:r>
          </a:p>
        </p:txBody>
      </p:sp>
      <p:sp>
        <p:nvSpPr>
          <p:cNvPr id="14" name="decision-support-heading-2">
            <a:extLst xmlns:a="http://schemas.openxmlformats.org/drawingml/2006/main">
              <a:ext uri="{FF2B5EF4-FFF2-40B4-BE49-F238E27FC236}">
                <a16:creationId xmlns:a16="http://schemas.microsoft.com/office/drawing/2014/main" id="{A155F14E-79E9-4BAC-9488-08AC5DA4F84C}"/>
              </a:ext>
            </a:extLst>
          </p:cNvPr>
          <p:cNvSpPr>
            <a:spLocks xmlns:a="http://schemas.openxmlformats.org/drawingml/2006/main" noGrp="1"/>
          </p:cNvSpPr>
          <p:nvPr/>
        </p:nvSpPr>
        <p:spPr>
          <a:xfrm xmlns:a="http://schemas.openxmlformats.org/drawingml/2006/main">
            <a:off x="4311682" y="46291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Score + explanation</a:t>
            </a:r>
          </a:p>
        </p:txBody>
      </p:sp>
      <p:sp>
        <p:nvSpPr>
          <p:cNvPr id="15" name="decision-support-description-2">
            <a:extLst xmlns:a="http://schemas.openxmlformats.org/drawingml/2006/main">
              <a:ext uri="{FF2B5EF4-FFF2-40B4-BE49-F238E27FC236}">
                <a16:creationId xmlns:a16="http://schemas.microsoft.com/office/drawing/2014/main" id="{C2B258A2-9278-4FBC-B482-A8B767037B33}"/>
              </a:ext>
            </a:extLst>
          </p:cNvPr>
          <p:cNvSpPr>
            <a:spLocks xmlns:a="http://schemas.openxmlformats.org/drawingml/2006/main" noGrp="1"/>
          </p:cNvSpPr>
          <p:nvPr/>
        </p:nvSpPr>
        <p:spPr>
          <a:xfrm xmlns:a="http://schemas.openxmlformats.org/drawingml/2006/main">
            <a:off x="4311682" y="509587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The model ranks urgency and shows influential terms.</a:t>
            </a:r>
          </a:p>
        </p:txBody>
      </p:sp>
      <p:sp>
        <p:nvSpPr>
          <p:cNvPr id="16" name="decision-support-stage-3">
            <a:extLst xmlns:a="http://schemas.openxmlformats.org/drawingml/2006/main">
              <a:ext uri="{FF2B5EF4-FFF2-40B4-BE49-F238E27FC236}">
                <a16:creationId xmlns:a16="http://schemas.microsoft.com/office/drawing/2014/main" id="{3906733E-39CD-44D6-9910-A2815069C79F}"/>
              </a:ext>
            </a:extLst>
          </p:cNvPr>
          <p:cNvSpPr>
            <a:spLocks xmlns:a="http://schemas.openxmlformats.org/drawingml/2006/main" noGrp="1"/>
          </p:cNvSpPr>
          <p:nvPr/>
        </p:nvSpPr>
        <p:spPr>
          <a:xfrm xmlns:a="http://schemas.openxmlformats.org/drawingml/2006/main">
            <a:off x="8232267" y="3905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HUMAN CONTROL</a:t>
            </a:r>
          </a:p>
        </p:txBody>
      </p:sp>
      <p:sp>
        <p:nvSpPr>
          <p:cNvPr id="17" name="decision-support-heading-3">
            <a:extLst xmlns:a="http://schemas.openxmlformats.org/drawingml/2006/main">
              <a:ext uri="{FF2B5EF4-FFF2-40B4-BE49-F238E27FC236}">
                <a16:creationId xmlns:a16="http://schemas.microsoft.com/office/drawing/2014/main" id="{72F3839B-C510-4EE3-B618-9E08B66AAD37}"/>
              </a:ext>
            </a:extLst>
          </p:cNvPr>
          <p:cNvSpPr>
            <a:spLocks xmlns:a="http://schemas.openxmlformats.org/drawingml/2006/main" noGrp="1"/>
          </p:cNvSpPr>
          <p:nvPr/>
        </p:nvSpPr>
        <p:spPr>
          <a:xfrm xmlns:a="http://schemas.openxmlformats.org/drawingml/2006/main">
            <a:off x="8232267" y="46291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0">
                <a:solidFill>
                  <a:srgbClr val="000000"/>
                </a:solidFill>
                <a:latin typeface="Helvetica Neue"/>
                <a:ea typeface="Helvetica Neue"/>
                <a:cs typeface="Helvetica Neue"/>
              </a:defRPr>
            </a:pPr>
            <a:r>
              <a:rPr sz="2250" b="0">
                <a:solidFill>
                  <a:srgbClr val="000000"/>
                </a:solidFill>
                <a:latin typeface="Helvetica Neue"/>
                <a:ea typeface="Helvetica Neue"/>
                <a:cs typeface="Helvetica Neue"/>
              </a:rPr>
              <a:t>Human decision</a:t>
            </a:r>
          </a:p>
        </p:txBody>
      </p:sp>
      <p:sp>
        <p:nvSpPr>
          <p:cNvPr id="18" name="decision-support-description-3">
            <a:extLst xmlns:a="http://schemas.openxmlformats.org/drawingml/2006/main">
              <a:ext uri="{FF2B5EF4-FFF2-40B4-BE49-F238E27FC236}">
                <a16:creationId xmlns:a16="http://schemas.microsoft.com/office/drawing/2014/main" id="{8B6374D4-1FEE-4450-AB1A-597853E3DEEA}"/>
              </a:ext>
            </a:extLst>
          </p:cNvPr>
          <p:cNvSpPr>
            <a:spLocks xmlns:a="http://schemas.openxmlformats.org/drawingml/2006/main" noGrp="1"/>
          </p:cNvSpPr>
          <p:nvPr/>
        </p:nvSpPr>
        <p:spPr>
          <a:xfrm xmlns:a="http://schemas.openxmlformats.org/drawingml/2006/main">
            <a:off x="8232267" y="509587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A person reviews the evidence and decides what action is appropriate.</a:t>
            </a:r>
          </a:p>
        </p:txBody>
      </p:sp>
    </p:spTree>
    <p:extLst>
      <p:ext uri="{BB962C8B-B14F-4D97-AF65-F5344CB8AC3E}">
        <p14:creationId xmlns:p14="http://schemas.microsoft.com/office/powerpoint/2010/main" val="192489291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D7AFE404-929B-4FD7-AEFB-6485D21F2A1B}"/>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txBody>
          <a:bodyPr xmlns:a="http://schemas.openxmlformats.org/drawingml/2006/main"/>
          <a:lstStyle xmlns:a="http://schemas.openxmlformats.org/drawingml/2006/main"/>
          <a:p xmlns:a="http://schemas.openxmlformats.org/drawingml/2006/main">
            <a:endParaRPr/>
          </a:p>
        </p:txBody>
      </p:sp>
      <p:sp>
        <p:nvSpPr>
          <p:cNvPr id="2" name="Rounded-Rectangle-6-2">
            <a:extLst xmlns:a="http://schemas.openxmlformats.org/drawingml/2006/main">
              <a:ext uri="{FF2B5EF4-FFF2-40B4-BE49-F238E27FC236}">
                <a16:creationId xmlns:a16="http://schemas.microsoft.com/office/drawing/2014/main" id="{5A47A26D-BE18-46B5-AB2C-1FA67CE0D98E}"/>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txBody>
          <a:bodyPr xmlns:a="http://schemas.openxmlformats.org/drawingml/2006/main"/>
          <a:lstStyle xmlns:a="http://schemas.openxmlformats.org/drawingml/2006/main"/>
          <a:p xmlns:a="http://schemas.openxmlformats.org/drawingml/2006/main">
            <a:endParaRPr/>
          </a:p>
        </p:txBody>
      </p:sp>
      <p:sp>
        <p:nvSpPr>
          <p:cNvPr id="3" name="Rounded-Rectangle-7-3">
            <a:extLst xmlns:a="http://schemas.openxmlformats.org/drawingml/2006/main">
              <a:ext uri="{FF2B5EF4-FFF2-40B4-BE49-F238E27FC236}">
                <a16:creationId xmlns:a16="http://schemas.microsoft.com/office/drawing/2014/main" id="{BF04191B-E7C4-4689-9069-62D2EA5D1A59}"/>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txBody>
          <a:bodyPr xmlns:a="http://schemas.openxmlformats.org/drawingml/2006/main"/>
          <a:lstStyle xmlns:a="http://schemas.openxmlformats.org/drawingml/2006/main"/>
          <a:p xmlns:a="http://schemas.openxmlformats.org/drawingml/2006/main">
            <a:endParaRPr/>
          </a:p>
        </p:txBody>
      </p:sp>
      <p:sp>
        <p:nvSpPr>
          <p:cNvPr id="4" name="Slide-Number-Placeholder-1-4">
            <a:extLst xmlns:a="http://schemas.openxmlformats.org/drawingml/2006/main">
              <a:ext uri="{FF2B5EF4-FFF2-40B4-BE49-F238E27FC236}">
                <a16:creationId xmlns:a16="http://schemas.microsoft.com/office/drawing/2014/main" id="{BDE59CBE-9F83-459F-B64D-15AF56F6A0F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3</a:t>
            </a:r>
          </a:p>
        </p:txBody>
      </p:sp>
      <p:sp>
        <p:nvSpPr>
          <p:cNvPr id="5" name="Title-2-5">
            <a:extLst xmlns:a="http://schemas.openxmlformats.org/drawingml/2006/main">
              <a:ext uri="{FF2B5EF4-FFF2-40B4-BE49-F238E27FC236}">
                <a16:creationId xmlns:a16="http://schemas.microsoft.com/office/drawing/2014/main" id="{8E437F1F-C917-4A84-A4D4-B3C3BB98886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A small reviewed sample defines the evidence boundary</a:t>
            </a:r>
          </a:p>
        </p:txBody>
      </p:sp>
      <p:sp>
        <p:nvSpPr>
          <p:cNvPr id="6" name="Content-Placeholder-9-6">
            <a:extLst xmlns:a="http://schemas.openxmlformats.org/drawingml/2006/main">
              <a:ext uri="{FF2B5EF4-FFF2-40B4-BE49-F238E27FC236}">
                <a16:creationId xmlns:a16="http://schemas.microsoft.com/office/drawing/2014/main" id="{4C2B64E7-14F1-44FD-8B67-F56FD152E31B}"/>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Source records in the Kaggle Enron distribution.</a:t>
            </a:r>
          </a:p>
        </p:txBody>
      </p:sp>
      <p:sp>
        <p:nvSpPr>
          <p:cNvPr id="7" name="Content-Placeholder-10-7">
            <a:extLst xmlns:a="http://schemas.openxmlformats.org/drawingml/2006/main">
              <a:ext uri="{FF2B5EF4-FFF2-40B4-BE49-F238E27FC236}">
                <a16:creationId xmlns:a16="http://schemas.microsoft.com/office/drawing/2014/main" id="{D958F9CD-22D6-4C59-88ED-49E9ADED1FEB}"/>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lnSpcReduction="1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Urgent messages; the remaining 169 were nonurgent.</a:t>
            </a:r>
          </a:p>
        </p:txBody>
      </p:sp>
      <p:sp>
        <p:nvSpPr>
          <p:cNvPr id="8" name="Content-Placeholder-11-8">
            <a:extLst xmlns:a="http://schemas.openxmlformats.org/drawingml/2006/main">
              <a:ext uri="{FF2B5EF4-FFF2-40B4-BE49-F238E27FC236}">
                <a16:creationId xmlns:a16="http://schemas.microsoft.com/office/drawing/2014/main" id="{9FBD14D4-48D8-41A4-8E20-84A6C9FACE7B}"/>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lnSpcReduction="1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Reviewed labeled messages used for this capstone evaluation.</a:t>
            </a:r>
          </a:p>
        </p:txBody>
      </p:sp>
      <p:sp>
        <p:nvSpPr>
          <p:cNvPr id="9" name="Content-Placeholder-9-9">
            <a:extLst xmlns:a="http://schemas.openxmlformats.org/drawingml/2006/main">
              <a:ext uri="{FF2B5EF4-FFF2-40B4-BE49-F238E27FC236}">
                <a16:creationId xmlns:a16="http://schemas.microsoft.com/office/drawing/2014/main" id="{E7EB0677-F6A4-4C8C-BE0C-731A862EE9E2}"/>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4200">
                <a:solidFill>
                  <a:srgbClr val="000000"/>
                </a:solidFill>
                <a:latin typeface="Helvetica Neue"/>
                <a:ea typeface="Helvetica Neue"/>
                <a:cs typeface="Helvetica Neue"/>
              </a:rPr>
              <a:t>517,401</a:t>
            </a:r>
          </a:p>
        </p:txBody>
      </p:sp>
      <p:sp>
        <p:nvSpPr>
          <p:cNvPr id="10" name="Content-Placeholder-9-10">
            <a:extLst xmlns:a="http://schemas.openxmlformats.org/drawingml/2006/main">
              <a:ext uri="{FF2B5EF4-FFF2-40B4-BE49-F238E27FC236}">
                <a16:creationId xmlns:a16="http://schemas.microsoft.com/office/drawing/2014/main" id="{EA9D8539-2C7E-48EE-8853-D9A2109B76A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4200">
                <a:solidFill>
                  <a:srgbClr val="000000"/>
                </a:solidFill>
                <a:latin typeface="Helvetica Neue"/>
                <a:ea typeface="Helvetica Neue"/>
                <a:cs typeface="Helvetica Neue"/>
              </a:rPr>
              <a:t>199</a:t>
            </a:r>
          </a:p>
        </p:txBody>
      </p:sp>
      <p:sp>
        <p:nvSpPr>
          <p:cNvPr id="11" name="Content-Placeholder-9-11">
            <a:extLst xmlns:a="http://schemas.openxmlformats.org/drawingml/2006/main">
              <a:ext uri="{FF2B5EF4-FFF2-40B4-BE49-F238E27FC236}">
                <a16:creationId xmlns:a16="http://schemas.microsoft.com/office/drawing/2014/main" id="{4FFCC006-489C-428F-AD62-5C14EB7C8950}"/>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4200">
                <a:solidFill>
                  <a:srgbClr val="000000"/>
                </a:solidFill>
                <a:latin typeface="Helvetica Neue"/>
                <a:ea typeface="Helvetica Neue"/>
                <a:cs typeface="Helvetica Neue"/>
              </a:rPr>
              <a:t>30</a:t>
            </a:r>
          </a:p>
        </p:txBody>
      </p:sp>
      <p:sp>
        <p:nvSpPr>
          <p:cNvPr id="12" name="Content-Placeholder-15-12">
            <a:extLst xmlns:a="http://schemas.openxmlformats.org/drawingml/2006/main">
              <a:ext uri="{FF2B5EF4-FFF2-40B4-BE49-F238E27FC236}">
                <a16:creationId xmlns:a16="http://schemas.microsoft.com/office/drawing/2014/main" id="{356E08A9-FE7E-4A9F-8004-1CBEDD760C02}"/>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Evidence scope</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Source records were filtered and manually reviewed before modeling.</a:t>
            </a:r>
          </a:p>
        </p:txBody>
      </p:sp>
    </p:spTree>
    <p:extLst>
      <p:ext uri="{BB962C8B-B14F-4D97-AF65-F5344CB8AC3E}">
        <p14:creationId xmlns:p14="http://schemas.microsoft.com/office/powerpoint/2010/main" val="11239410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52D8D8B-643F-4DDB-9763-EF0912E2E4A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4</a:t>
            </a:r>
          </a:p>
        </p:txBody>
      </p:sp>
      <p:sp>
        <p:nvSpPr>
          <p:cNvPr id="2" name="Title-10-3">
            <a:extLst xmlns:a="http://schemas.openxmlformats.org/drawingml/2006/main">
              <a:ext uri="{FF2B5EF4-FFF2-40B4-BE49-F238E27FC236}">
                <a16:creationId xmlns:a16="http://schemas.microsoft.com/office/drawing/2014/main" id="{6732869C-64C0-4D12-AF63-289F4672F73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The project advanced through controlled evidence checkpoints</a:t>
            </a:r>
          </a:p>
        </p:txBody>
      </p:sp>
      <p:cxnSp>
        <p:nvCxnSpPr>
          <p:cNvPr id="51"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2C05DB73-C07D-42DE-BD6F-C08C7A3E475D}"/>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a:endParaRPr/>
          </a:p>
        </p:txBody>
      </p:sp>
      <p:sp>
        <p:nvSpPr>
          <p:cNvPr id="5" name="Google-Shape-2261-p159-6">
            <a:extLst xmlns:a="http://schemas.openxmlformats.org/drawingml/2006/main">
              <a:ext uri="{FF2B5EF4-FFF2-40B4-BE49-F238E27FC236}">
                <a16:creationId xmlns:a16="http://schemas.microsoft.com/office/drawing/2014/main" id="{4A870986-826C-47F0-A9FA-EE59314EF330}"/>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a:endParaRPr/>
          </a:p>
        </p:txBody>
      </p:sp>
      <p:sp>
        <p:nvSpPr>
          <p:cNvPr id="6" name="Google-Shape-2262-p159-7">
            <a:extLst xmlns:a="http://schemas.openxmlformats.org/drawingml/2006/main">
              <a:ext uri="{FF2B5EF4-FFF2-40B4-BE49-F238E27FC236}">
                <a16:creationId xmlns:a16="http://schemas.microsoft.com/office/drawing/2014/main" id="{4DDDD852-4FFA-467C-A068-05C7C566DAF6}"/>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a:endParaRPr/>
          </a:p>
        </p:txBody>
      </p:sp>
      <p:sp>
        <p:nvSpPr>
          <p:cNvPr id="7" name="Content-Placeholder-15-8">
            <a:extLst xmlns:a="http://schemas.openxmlformats.org/drawingml/2006/main">
              <a:ext uri="{FF2B5EF4-FFF2-40B4-BE49-F238E27FC236}">
                <a16:creationId xmlns:a16="http://schemas.microsoft.com/office/drawing/2014/main" id="{D75A66E0-140D-4745-9896-68235852059A}"/>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BASELINE</a:t>
            </a:r>
          </a:p>
        </p:txBody>
      </p:sp>
      <p:sp>
        <p:nvSpPr>
          <p:cNvPr id="8" name="Content-Placeholder-15-9">
            <a:extLst xmlns:a="http://schemas.openxmlformats.org/drawingml/2006/main">
              <a:ext uri="{FF2B5EF4-FFF2-40B4-BE49-F238E27FC236}">
                <a16:creationId xmlns:a16="http://schemas.microsoft.com/office/drawing/2014/main" id="{5595F8D1-7653-4CE9-B930-06D24F866F12}"/>
              </a:ext>
            </a:extLst>
          </p:cNvPr>
          <p:cNvSpPr>
            <a:spLocks xmlns:a="http://schemas.openxmlformats.org/drawingml/2006/main" noGrp="1"/>
          </p:cNvSpPr>
          <p:nvPr/>
        </p:nvSpPr>
        <p:spPr>
          <a:xfrm xmlns:a="http://schemas.openxmlformats.org/drawingml/2006/main">
            <a:off x="4294156" y="2843308"/>
            <a:ext cx="2476500"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OPTIMIZE + EXPLAIN</a:t>
            </a:r>
          </a:p>
        </p:txBody>
      </p:sp>
      <p:sp>
        <p:nvSpPr>
          <p:cNvPr id="9" name="Content-Placeholder-15-10">
            <a:extLst xmlns:a="http://schemas.openxmlformats.org/drawingml/2006/main">
              <a:ext uri="{FF2B5EF4-FFF2-40B4-BE49-F238E27FC236}">
                <a16:creationId xmlns:a16="http://schemas.microsoft.com/office/drawing/2014/main" id="{8D7B82F9-F06F-4FD9-8DB6-E1E5DC9A5265}"/>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TEST + DECIDE</a:t>
            </a:r>
          </a:p>
        </p:txBody>
      </p:sp>
      <p:sp>
        <p:nvSpPr>
          <p:cNvPr id="10" name="Text-Placeholder-16-11">
            <a:extLst xmlns:a="http://schemas.openxmlformats.org/drawingml/2006/main">
              <a:ext uri="{FF2B5EF4-FFF2-40B4-BE49-F238E27FC236}">
                <a16:creationId xmlns:a16="http://schemas.microsoft.com/office/drawing/2014/main" id="{575599E1-869E-4BE6-BC03-E590BB166A1A}"/>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Improve</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Tune on training data, inspect explanations, and preserve the fixed split.</a:t>
            </a:r>
          </a:p>
        </p:txBody>
      </p:sp>
      <p:sp>
        <p:nvSpPr>
          <p:cNvPr id="11" name="Text-Placeholder-16-12">
            <a:extLst xmlns:a="http://schemas.openxmlformats.org/drawingml/2006/main">
              <a:ext uri="{FF2B5EF4-FFF2-40B4-BE49-F238E27FC236}">
                <a16:creationId xmlns:a16="http://schemas.microsoft.com/office/drawing/2014/main" id="{8A6CD39C-B2C4-4C6A-85DF-71DC105D83FC}"/>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Establish</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Build a reproducible TF–IDF and logistic-regression reference model.</a:t>
            </a:r>
          </a:p>
        </p:txBody>
      </p:sp>
      <p:sp>
        <p:nvSpPr>
          <p:cNvPr id="12" name="Text-Placeholder-16-13">
            <a:extLst xmlns:a="http://schemas.openxmlformats.org/drawingml/2006/main">
              <a:ext uri="{FF2B5EF4-FFF2-40B4-BE49-F238E27FC236}">
                <a16:creationId xmlns:a16="http://schemas.microsoft.com/office/drawing/2014/main" id="{7C2DA4A1-1ED0-4C22-B473-D9EFC75A3027}"/>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Challenge</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Use nested cross-validation, threshold tests, error analysis, and a recorded decision.</a:t>
            </a:r>
          </a:p>
        </p:txBody>
      </p:sp>
    </p:spTree>
    <p:extLst>
      <p:ext uri="{BB962C8B-B14F-4D97-AF65-F5344CB8AC3E}">
        <p14:creationId xmlns:p14="http://schemas.microsoft.com/office/powerpoint/2010/main" val="183775634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E339523B-6D5B-4093-80FD-4AF43CB2B108}"/>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txBody>
          <a:bodyPr xmlns:a="http://schemas.openxmlformats.org/drawingml/2006/main"/>
          <a:lstStyle xmlns:a="http://schemas.openxmlformats.org/drawingml/2006/main"/>
          <a:p xmlns:a="http://schemas.openxmlformats.org/drawingml/2006/main">
            <a:endParaRPr/>
          </a:p>
        </p:txBody>
      </p:sp>
      <p:sp>
        <p:nvSpPr>
          <p:cNvPr id="2" name="Rounded-Rectangle-6-2">
            <a:extLst xmlns:a="http://schemas.openxmlformats.org/drawingml/2006/main">
              <a:ext uri="{FF2B5EF4-FFF2-40B4-BE49-F238E27FC236}">
                <a16:creationId xmlns:a16="http://schemas.microsoft.com/office/drawing/2014/main" id="{384EFEFE-37D5-4781-A715-44334D6B3F9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txBody>
          <a:bodyPr xmlns:a="http://schemas.openxmlformats.org/drawingml/2006/main"/>
          <a:lstStyle xmlns:a="http://schemas.openxmlformats.org/drawingml/2006/main"/>
          <a:p xmlns:a="http://schemas.openxmlformats.org/drawingml/2006/main">
            <a:endParaRPr/>
          </a:p>
        </p:txBody>
      </p:sp>
      <p:sp>
        <p:nvSpPr>
          <p:cNvPr id="3" name="Rounded-Rectangle-7-3">
            <a:extLst xmlns:a="http://schemas.openxmlformats.org/drawingml/2006/main">
              <a:ext uri="{FF2B5EF4-FFF2-40B4-BE49-F238E27FC236}">
                <a16:creationId xmlns:a16="http://schemas.microsoft.com/office/drawing/2014/main" id="{D1B9D51D-B950-43DB-8C9B-A44F6E435A75}"/>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txBody>
          <a:bodyPr xmlns:a="http://schemas.openxmlformats.org/drawingml/2006/main"/>
          <a:lstStyle xmlns:a="http://schemas.openxmlformats.org/drawingml/2006/main"/>
          <a:p xmlns:a="http://schemas.openxmlformats.org/drawingml/2006/main">
            <a:endParaRPr/>
          </a:p>
        </p:txBody>
      </p:sp>
      <p:sp>
        <p:nvSpPr>
          <p:cNvPr id="4" name="Slide-Number-Placeholder-1-4">
            <a:extLst xmlns:a="http://schemas.openxmlformats.org/drawingml/2006/main">
              <a:ext uri="{FF2B5EF4-FFF2-40B4-BE49-F238E27FC236}">
                <a16:creationId xmlns:a16="http://schemas.microsoft.com/office/drawing/2014/main" id="{42163C7E-1454-466F-B778-81FC8792955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5</a:t>
            </a:r>
          </a:p>
        </p:txBody>
      </p:sp>
      <p:sp>
        <p:nvSpPr>
          <p:cNvPr id="5" name="Title-2-5">
            <a:extLst xmlns:a="http://schemas.openxmlformats.org/drawingml/2006/main">
              <a:ext uri="{FF2B5EF4-FFF2-40B4-BE49-F238E27FC236}">
                <a16:creationId xmlns:a16="http://schemas.microsoft.com/office/drawing/2014/main" id="{485E5AA2-2812-4331-8DDC-22B36A92A42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Optimization improved training evidence—but not the holdout result</a:t>
            </a:r>
          </a:p>
        </p:txBody>
      </p:sp>
      <p:sp>
        <p:nvSpPr>
          <p:cNvPr id="6" name="Content-Placeholder-9-6">
            <a:extLst xmlns:a="http://schemas.openxmlformats.org/drawingml/2006/main">
              <a:ext uri="{FF2B5EF4-FFF2-40B4-BE49-F238E27FC236}">
                <a16:creationId xmlns:a16="http://schemas.microsoft.com/office/drawing/2014/main" id="{3FC6B0F3-558B-43D4-9132-6BF005E17BCB}"/>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lnSpcReduction="1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Mean cross-validated urgent F1 increased from 6.7% to 11.4%.</a:t>
            </a:r>
          </a:p>
        </p:txBody>
      </p:sp>
      <p:sp>
        <p:nvSpPr>
          <p:cNvPr id="7" name="Content-Placeholder-10-7">
            <a:extLst xmlns:a="http://schemas.openxmlformats.org/drawingml/2006/main">
              <a:ext uri="{FF2B5EF4-FFF2-40B4-BE49-F238E27FC236}">
                <a16:creationId xmlns:a16="http://schemas.microsoft.com/office/drawing/2014/main" id="{C929FD5C-D913-4E65-855B-DA6D78AEC79A}"/>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TF–IDF features decreased from 4,097 to 2,895.</a:t>
            </a:r>
          </a:p>
        </p:txBody>
      </p:sp>
      <p:sp>
        <p:nvSpPr>
          <p:cNvPr id="8" name="Content-Placeholder-11-8">
            <a:extLst xmlns:a="http://schemas.openxmlformats.org/drawingml/2006/main">
              <a:ext uri="{FF2B5EF4-FFF2-40B4-BE49-F238E27FC236}">
                <a16:creationId xmlns:a16="http://schemas.microsoft.com/office/drawing/2014/main" id="{9884926F-5D3F-4EDD-9311-5C846336DB2D}"/>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lnSpcReduction="10000"/>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Mean cross-validated urgent recall increased from 4.0% to 8.0%.</a:t>
            </a:r>
          </a:p>
        </p:txBody>
      </p:sp>
      <p:sp>
        <p:nvSpPr>
          <p:cNvPr id="9" name="Content-Placeholder-9-9">
            <a:extLst xmlns:a="http://schemas.openxmlformats.org/drawingml/2006/main">
              <a:ext uri="{FF2B5EF4-FFF2-40B4-BE49-F238E27FC236}">
                <a16:creationId xmlns:a16="http://schemas.microsoft.com/office/drawing/2014/main" id="{BD88F384-E88D-46C0-AAE3-B653B0F3C259}"/>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3750">
                <a:solidFill>
                  <a:srgbClr val="000000"/>
                </a:solidFill>
                <a:latin typeface="Helvetica Neue"/>
                <a:ea typeface="Helvetica Neue"/>
                <a:cs typeface="Helvetica Neue"/>
              </a:rPr>
              <a:t>+4.7 pts</a:t>
            </a:r>
          </a:p>
        </p:txBody>
      </p:sp>
      <p:sp>
        <p:nvSpPr>
          <p:cNvPr id="10" name="Content-Placeholder-9-10">
            <a:extLst xmlns:a="http://schemas.openxmlformats.org/drawingml/2006/main">
              <a:ext uri="{FF2B5EF4-FFF2-40B4-BE49-F238E27FC236}">
                <a16:creationId xmlns:a16="http://schemas.microsoft.com/office/drawing/2014/main" id="{7F74A129-E2A0-47F0-81F5-816FB9364D1F}"/>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3750">
                <a:solidFill>
                  <a:srgbClr val="000000"/>
                </a:solidFill>
                <a:latin typeface="Helvetica Neue"/>
                <a:ea typeface="Helvetica Neue"/>
                <a:cs typeface="Helvetica Neue"/>
              </a:rPr>
              <a:t>2× recall</a:t>
            </a:r>
          </a:p>
        </p:txBody>
      </p:sp>
      <p:sp>
        <p:nvSpPr>
          <p:cNvPr id="11" name="Content-Placeholder-9-11">
            <a:extLst xmlns:a="http://schemas.openxmlformats.org/drawingml/2006/main">
              <a:ext uri="{FF2B5EF4-FFF2-40B4-BE49-F238E27FC236}">
                <a16:creationId xmlns:a16="http://schemas.microsoft.com/office/drawing/2014/main" id="{3E0B342E-0872-4D15-9385-5E7122DB4B4A}"/>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3750">
                <a:solidFill>
                  <a:srgbClr val="000000"/>
                </a:solidFill>
                <a:latin typeface="Helvetica Neue"/>
                <a:ea typeface="Helvetica Neue"/>
                <a:cs typeface="Helvetica Neue"/>
              </a:rPr>
              <a:t>−29%</a:t>
            </a:r>
          </a:p>
        </p:txBody>
      </p:sp>
      <p:sp>
        <p:nvSpPr>
          <p:cNvPr id="12" name="Content-Placeholder-15-12">
            <a:extLst xmlns:a="http://schemas.openxmlformats.org/drawingml/2006/main">
              <a:ext uri="{FF2B5EF4-FFF2-40B4-BE49-F238E27FC236}">
                <a16:creationId xmlns:a16="http://schemas.microsoft.com/office/drawing/2014/main" id="{C7523A79-B90A-4868-9A16-ACA667AF6A2B}"/>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Training-data comparison</a:t>
            </a:r>
          </a:p>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Mean cross-validated urgent F1 increased from 6.7% to 11.4%.</a:t>
            </a:r>
          </a:p>
        </p:txBody>
      </p:sp>
    </p:spTree>
    <p:extLst>
      <p:ext uri="{BB962C8B-B14F-4D97-AF65-F5344CB8AC3E}">
        <p14:creationId xmlns:p14="http://schemas.microsoft.com/office/powerpoint/2010/main" val="64743866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9" name="Google-Shape-532-p58-2">
            <a:extLst xmlns:a="http://schemas.openxmlformats.org/drawingml/2006/main">
              <a:ext uri="{FF2B5EF4-FFF2-40B4-BE49-F238E27FC236}">
                <a16:creationId xmlns:a16="http://schemas.microsoft.com/office/drawing/2014/main" id="{71DA720B-29A7-45E8-9299-6EC2E95B3C4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0000"/>
              </a:lnSpc>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6</a:t>
            </a:r>
          </a:p>
        </p:txBody>
      </p:sp>
      <p:sp>
        <p:nvSpPr>
          <p:cNvPr id="2" name="Google-Shape-533-p58-3">
            <a:extLst xmlns:a="http://schemas.openxmlformats.org/drawingml/2006/main">
              <a:ext uri="{FF2B5EF4-FFF2-40B4-BE49-F238E27FC236}">
                <a16:creationId xmlns:a16="http://schemas.microsoft.com/office/drawing/2014/main" id="{1E72C13E-FF8E-4857-B19E-5F992689DF2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Threshold testing exposed the reliability problem</a:t>
            </a:r>
          </a:p>
        </p:txBody>
      </p:sp>
      <p:sp>
        <p:nvSpPr>
          <p:cNvPr id="3" name="Picture-3-4-backing">
            <a:extLst xmlns:a="http://schemas.openxmlformats.org/drawingml/2006/main">
              <a:ext uri="{FF2B5EF4-FFF2-40B4-BE49-F238E27FC236}">
                <a16:creationId xmlns:a16="http://schemas.microsoft.com/office/drawing/2014/main" id="{67571DDF-74B9-425E-8E40-8C3ADC7A0660}"/>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Google-Shape-534-p58-5">
            <a:extLst xmlns:a="http://schemas.openxmlformats.org/drawingml/2006/main">
              <a:ext uri="{FF2B5EF4-FFF2-40B4-BE49-F238E27FC236}">
                <a16:creationId xmlns:a16="http://schemas.microsoft.com/office/drawing/2014/main" id="{0CB3C199-FCD4-4BF4-82DA-0EE618D90B85}"/>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r>
              <a:rPr sz="2400">
                <a:solidFill>
                  <a:srgbClr val="000000"/>
                </a:solidFill>
                <a:latin typeface="Helvetica Neue"/>
                <a:ea typeface="Helvetica Neue"/>
                <a:cs typeface="Helvetica Neue"/>
              </a:rPr>
              <a:t>0.45 threshold</a:t>
            </a:r>
          </a:p>
          <a:p xmlns:a="http://schemas.openxmlformats.org/drawingml/2006/main">
            <a:r>
              <a:rPr sz="1600">
                <a:solidFill>
                  <a:srgbClr val="000000"/>
                </a:solidFill>
                <a:latin typeface="Helvetica Neue"/>
                <a:ea typeface="Helvetica Neue"/>
                <a:cs typeface="Helvetica Neue"/>
              </a:rPr>
              <a:t>100% urgent recall
26.2% urgent F1
135 false positives</a:t>
            </a:r>
          </a:p>
          <a:p xmlns:a="http://schemas.openxmlformats.org/drawingml/2006/main">
            <a:r>
              <a:rPr sz="750">
                <a:solidFill>
                  <a:srgbClr val="000000"/>
                </a:solidFill>
                <a:latin typeface="Helvetica Neue"/>
                <a:ea typeface="Helvetica Neue"/>
                <a:cs typeface="Helvetica Neue"/>
              </a:rPr>
              <a:t> </a:t>
            </a:r>
          </a:p>
          <a:p xmlns:a="http://schemas.openxmlformats.org/drawingml/2006/main">
            <a:r>
              <a:rPr sz="1600">
                <a:solidFill>
                  <a:srgbClr val="000000"/>
                </a:solidFill>
                <a:latin typeface="Helvetica Neue"/>
                <a:ea typeface="Helvetica Neue"/>
                <a:cs typeface="Helvetica Neue"/>
              </a:rPr>
              <a:t>Every training message was labeled urgent.</a:t>
            </a:r>
          </a:p>
          <a:p xmlns:a="http://schemas.openxmlformats.org/drawingml/2006/main">
            <a:r>
              <a:rPr sz="750">
                <a:solidFill>
                  <a:srgbClr val="000000"/>
                </a:solidFill>
                <a:latin typeface="Helvetica Neue"/>
                <a:ea typeface="Helvetica Neue"/>
                <a:cs typeface="Helvetica Neue"/>
              </a:rPr>
              <a:t> </a:t>
            </a:r>
          </a:p>
          <a:p xmlns:a="http://schemas.openxmlformats.org/drawingml/2006/main">
            <a:r>
              <a:rPr sz="2400">
                <a:solidFill>
                  <a:srgbClr val="000000"/>
                </a:solidFill>
                <a:latin typeface="Helvetica Neue"/>
                <a:ea typeface="Helvetica Neue"/>
                <a:cs typeface="Helvetica Neue"/>
              </a:rPr>
              <a:t>0.50 threshold</a:t>
            </a:r>
          </a:p>
          <a:p xmlns:a="http://schemas.openxmlformats.org/drawingml/2006/main">
            <a:r>
              <a:rPr sz="1600">
                <a:solidFill>
                  <a:srgbClr val="000000"/>
                </a:solidFill>
                <a:latin typeface="Helvetica Neue"/>
                <a:ea typeface="Helvetica Neue"/>
                <a:cs typeface="Helvetica Neue"/>
              </a:rPr>
              <a:t>8.3% urgent recall
15.4% urgent F1
22 false negatives</a:t>
            </a:r>
          </a:p>
        </p:txBody>
      </p:sp>
      <p:pic>
        <p:nvPicPr>
          <p:cNvPr id="15" name="Picture 14"/>
          <p:cNvPicPr>
            <a:picLocks xmlns:a="http://schemas.openxmlformats.org/drawingml/2006/main" noChangeAspect="1"/>
          </p:cNvPicPr>
          <p:nvPr/>
        </p:nvPicPr>
        <p:blipFill>
          <a:blip xmlns:r="http://schemas.openxmlformats.org/officeDocument/2006/relationships" xmlns:a="http://schemas.openxmlformats.org/drawingml/2006/main" r:embed="Rea7ef4f26b8244d3"/>
          <a:stretch xmlns:a="http://schemas.openxmlformats.org/drawingml/2006/main"/>
        </p:blipFill>
        <p:spPr>
          <a:xfrm xmlns:a="http://schemas.openxmlformats.org/drawingml/2006/main">
            <a:off x="6305550" y="2313190"/>
            <a:ext cx="5410200" cy="2564995"/>
          </a:xfrm>
          <a:prstGeom xmlns:a="http://schemas.openxmlformats.org/drawingml/2006/main" prst="rect">
            <a:avLst/>
          </a:prstGeom>
        </p:spPr>
      </p:pic>
      <p:sp>
        <p:nvSpPr>
          <p:cNvPr id="7" name="slide-6-title-backing">
            <a:extLst xmlns:a="http://schemas.openxmlformats.org/drawingml/2006/main">
              <a:ext uri="{FF2B5EF4-FFF2-40B4-BE49-F238E27FC236}">
                <a16:creationId xmlns:a16="http://schemas.microsoft.com/office/drawing/2014/main" id="{3826250A-6A07-4D8D-8A5D-B82EDD95B8C5}"/>
              </a:ext>
            </a:extLst>
          </p:cNvPr>
          <p:cNvSpPr>
            <a:spLocks xmlns:a="http://schemas.openxmlformats.org/drawingml/2006/main" noGrp="1"/>
          </p:cNvSpPr>
          <p:nvPr/>
        </p:nvSpPr>
        <p:spPr>
          <a:xfrm xmlns:a="http://schemas.openxmlformats.org/drawingml/2006/main">
            <a:off x="0" y="0"/>
            <a:ext cx="12192000" cy="1381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slide-6-title">
            <a:extLst xmlns:a="http://schemas.openxmlformats.org/drawingml/2006/main">
              <a:ext uri="{FF2B5EF4-FFF2-40B4-BE49-F238E27FC236}">
                <a16:creationId xmlns:a16="http://schemas.microsoft.com/office/drawing/2014/main" id="{DB4315B5-879B-42E1-A963-86483014493D}"/>
              </a:ext>
            </a:extLst>
          </p:cNvPr>
          <p:cNvSpPr>
            <a:spLocks xmlns:a="http://schemas.openxmlformats.org/drawingml/2006/main" noGrp="1"/>
          </p:cNvSpPr>
          <p:nvPr/>
        </p:nvSpPr>
        <p:spPr>
          <a:xfrm xmlns:a="http://schemas.openxmlformats.org/drawingml/2006/main">
            <a:off x="393668" y="344043"/>
            <a:ext cx="11404568"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Threshold testing exposed the reliability problem</a:t>
            </a:r>
          </a:p>
        </p:txBody>
      </p:sp>
    </p:spTree>
    <p:extLst>
      <p:ext uri="{BB962C8B-B14F-4D97-AF65-F5344CB8AC3E}">
        <p14:creationId xmlns:p14="http://schemas.microsoft.com/office/powerpoint/2010/main" val="71970459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6F593566-D0FB-44F5-9636-91DABAC50F74}"/>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0000"/>
              </a:lnSpc>
              <a:buNone/>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The demo passed; the model still needs revision</a:t>
            </a:r>
          </a:p>
        </p:txBody>
      </p:sp>
      <p:sp>
        <p:nvSpPr>
          <p:cNvPr id="2" name="Subtitle-4-2">
            <a:extLst xmlns:a="http://schemas.openxmlformats.org/drawingml/2006/main">
              <a:ext uri="{FF2B5EF4-FFF2-40B4-BE49-F238E27FC236}">
                <a16:creationId xmlns:a16="http://schemas.microsoft.com/office/drawing/2014/main" id="{D6844EA8-4A25-420E-943F-53E44678AE1F}"/>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000">
                <a:solidFill>
                  <a:srgbClr val="000000"/>
                </a:solidFill>
                <a:latin typeface="Helvetica Neue"/>
                <a:ea typeface="Helvetica Neue"/>
                <a:cs typeface="Helvetica Neue"/>
              </a:rPr>
              <a:t>Controlled local demo passed</a:t>
            </a:r>
          </a:p>
          <a:p xmlns:a="http://schemas.openxmlformats.org/drawingml/2006/main">
            <a:pPr algn="l">
              <a:lnSpc>
                <a:spcPct val="100000"/>
              </a:lnSpc>
              <a:buNone/>
              <a:defRPr sz="2400">
                <a:solidFill>
                  <a:srgbClr val="000000"/>
                </a:solidFill>
                <a:latin typeface="Helvetica Neue"/>
                <a:ea typeface="Helvetica Neue"/>
                <a:cs typeface="Helvetica Neue"/>
              </a:defRPr>
            </a:pPr>
            <a:r>
              <a:rPr sz="2000">
                <a:solidFill>
                  <a:srgbClr val="000000"/>
                </a:solidFill>
                <a:latin typeface="Helvetica Neue"/>
                <a:ea typeface="Helvetica Neue"/>
                <a:cs typeface="Helvetica Neue"/>
              </a:rPr>
              <a:t>Model disposition: revise</a:t>
            </a:r>
          </a:p>
          <a:p xmlns:a="http://schemas.openxmlformats.org/drawingml/2006/main">
            <a:pPr algn="l">
              <a:lnSpc>
                <a:spcPct val="100000"/>
              </a:lnSpc>
              <a:buNone/>
              <a:defRPr sz="2400">
                <a:solidFill>
                  <a:srgbClr val="000000"/>
                </a:solidFill>
                <a:latin typeface="Helvetica Neue"/>
                <a:ea typeface="Helvetica Neue"/>
                <a:cs typeface="Helvetica Neue"/>
              </a:defRPr>
            </a:pPr>
            <a:r>
              <a:rPr sz="2000">
                <a:solidFill>
                  <a:srgbClr val="000000"/>
                </a:solidFill>
                <a:latin typeface="Helvetica Neue"/>
                <a:ea typeface="Helvetica Neue"/>
                <a:cs typeface="Helvetica Neue"/>
              </a:rPr>
              <a:t>Human review required</a:t>
            </a:r>
          </a:p>
          <a:p xmlns:a="http://schemas.openxmlformats.org/drawingml/2006/main">
            <a:pPr algn="l">
              <a:lnSpc>
                <a:spcPct val="100000"/>
              </a:lnSpc>
              <a:buNone/>
              <a:defRPr sz="2400">
                <a:solidFill>
                  <a:srgbClr val="000000"/>
                </a:solidFill>
                <a:latin typeface="Helvetica Neue"/>
                <a:ea typeface="Helvetica Neue"/>
                <a:cs typeface="Helvetica Neue"/>
              </a:defRPr>
            </a:pPr>
            <a:r>
              <a:rPr sz="2000">
                <a:solidFill>
                  <a:srgbClr val="000000"/>
                </a:solidFill>
                <a:latin typeface="Helvetica Neue"/>
                <a:ea typeface="Helvetica Neue"/>
                <a:cs typeface="Helvetica Neue"/>
              </a:rPr>
              <a:t>No shadow or production approval</a:t>
            </a:r>
          </a:p>
        </p:txBody>
      </p:sp>
      <p:sp>
        <p:nvSpPr>
          <p:cNvPr id="3" name="Subtitle-4-3">
            <a:extLst xmlns:a="http://schemas.openxmlformats.org/drawingml/2006/main">
              <a:ext uri="{FF2B5EF4-FFF2-40B4-BE49-F238E27FC236}">
                <a16:creationId xmlns:a16="http://schemas.microsoft.com/office/drawing/2014/main" id="{63836657-A5AE-4EE1-8C79-8739FDB4745C}"/>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DISPOSITION</a:t>
            </a:r>
          </a:p>
        </p:txBody>
      </p:sp>
    </p:spTree>
    <p:extLst>
      <p:ext uri="{BB962C8B-B14F-4D97-AF65-F5344CB8AC3E}">
        <p14:creationId xmlns:p14="http://schemas.microsoft.com/office/powerpoint/2010/main" val="92988125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C75B26AE-BE3D-4D9E-973B-F37CCDAB80B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0000"/>
              </a:lnSpc>
              <a:buNone/>
              <a:defRPr sz="1000">
                <a:solidFill>
                  <a:srgbClr val="000000"/>
                </a:solidFill>
                <a:latin typeface="Helvetica Neue"/>
                <a:ea typeface="Helvetica Neue"/>
                <a:cs typeface="Helvetica Neue"/>
              </a:defRPr>
            </a:pPr>
            <a:r>
              <a:rPr sz="1000">
                <a:solidFill>
                  <a:srgbClr val="000000"/>
                </a:solidFill>
                <a:latin typeface="Helvetica Neue"/>
                <a:ea typeface="Helvetica Neue"/>
                <a:cs typeface="Helvetica Neue"/>
              </a:rPr>
              <a:t>8</a:t>
            </a:r>
          </a:p>
        </p:txBody>
      </p:sp>
      <p:sp>
        <p:nvSpPr>
          <p:cNvPr id="2" name="Title-10-3">
            <a:extLst xmlns:a="http://schemas.openxmlformats.org/drawingml/2006/main">
              <a:ext uri="{FF2B5EF4-FFF2-40B4-BE49-F238E27FC236}">
                <a16:creationId xmlns:a16="http://schemas.microsoft.com/office/drawing/2014/main" id="{E8AEE3C0-019A-438A-947D-35A823DB424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p xmlns:a="http://schemas.openxmlformats.org/drawingml/2006/main">
            <a:pPr algn="l">
              <a:lnSpc>
                <a:spcPct val="100000"/>
              </a:lnSpc>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Next steps should establish reliable evidence before deployment</a:t>
            </a:r>
          </a:p>
        </p:txBody>
      </p:sp>
      <p:cxnSp>
        <p:nvCxnSpPr>
          <p:cNvPr id="51"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71815DF6-9448-40C3-B394-EEAEF4C04FE5}"/>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a:endParaRPr/>
          </a:p>
        </p:txBody>
      </p:sp>
      <p:sp>
        <p:nvSpPr>
          <p:cNvPr id="5" name="Google-Shape-2261-p159-6">
            <a:extLst xmlns:a="http://schemas.openxmlformats.org/drawingml/2006/main">
              <a:ext uri="{FF2B5EF4-FFF2-40B4-BE49-F238E27FC236}">
                <a16:creationId xmlns:a16="http://schemas.microsoft.com/office/drawing/2014/main" id="{CD4D73DF-9310-4CD7-A035-4052762B544E}"/>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a:endParaRPr/>
          </a:p>
        </p:txBody>
      </p:sp>
      <p:sp>
        <p:nvSpPr>
          <p:cNvPr id="6" name="Google-Shape-2262-p159-7">
            <a:extLst xmlns:a="http://schemas.openxmlformats.org/drawingml/2006/main">
              <a:ext uri="{FF2B5EF4-FFF2-40B4-BE49-F238E27FC236}">
                <a16:creationId xmlns:a16="http://schemas.microsoft.com/office/drawing/2014/main" id="{AADA14F8-AB65-41DD-BB6F-508A43FF800D}"/>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a:endParaRPr/>
          </a:p>
        </p:txBody>
      </p:sp>
      <p:sp>
        <p:nvSpPr>
          <p:cNvPr id="7" name="Content-Placeholder-15-8">
            <a:extLst xmlns:a="http://schemas.openxmlformats.org/drawingml/2006/main">
              <a:ext uri="{FF2B5EF4-FFF2-40B4-BE49-F238E27FC236}">
                <a16:creationId xmlns:a16="http://schemas.microsoft.com/office/drawing/2014/main" id="{869945BB-FF55-4AC2-84B4-66EC4F12D914}"/>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EXPAND</a:t>
            </a:r>
          </a:p>
        </p:txBody>
      </p:sp>
      <p:sp>
        <p:nvSpPr>
          <p:cNvPr id="8" name="Content-Placeholder-15-9">
            <a:extLst xmlns:a="http://schemas.openxmlformats.org/drawingml/2006/main">
              <a:ext uri="{FF2B5EF4-FFF2-40B4-BE49-F238E27FC236}">
                <a16:creationId xmlns:a16="http://schemas.microsoft.com/office/drawing/2014/main" id="{AFE22B73-DA52-4FB6-A6DB-2088EDE32476}"/>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DIAGNOSE</a:t>
            </a:r>
          </a:p>
        </p:txBody>
      </p:sp>
      <p:sp>
        <p:nvSpPr>
          <p:cNvPr id="9" name="Content-Placeholder-15-10">
            <a:extLst xmlns:a="http://schemas.openxmlformats.org/drawingml/2006/main">
              <a:ext uri="{FF2B5EF4-FFF2-40B4-BE49-F238E27FC236}">
                <a16:creationId xmlns:a16="http://schemas.microsoft.com/office/drawing/2014/main" id="{51AA3049-4650-4DA2-8B19-1F0E5F796468}"/>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RETEST</a:t>
            </a:r>
          </a:p>
        </p:txBody>
      </p:sp>
      <p:sp>
        <p:nvSpPr>
          <p:cNvPr id="10" name="Text-Placeholder-16-11">
            <a:extLst xmlns:a="http://schemas.openxmlformats.org/drawingml/2006/main">
              <a:ext uri="{FF2B5EF4-FFF2-40B4-BE49-F238E27FC236}">
                <a16:creationId xmlns:a16="http://schemas.microsoft.com/office/drawing/2014/main" id="{C7516344-9E06-4680-ADF1-031A5B04BE59}"/>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Better separation</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Review probability calibration, feature behavior, and common failure patterns.</a:t>
            </a:r>
          </a:p>
        </p:txBody>
      </p:sp>
      <p:sp>
        <p:nvSpPr>
          <p:cNvPr id="11" name="Text-Placeholder-16-12">
            <a:extLst xmlns:a="http://schemas.openxmlformats.org/drawingml/2006/main">
              <a:ext uri="{FF2B5EF4-FFF2-40B4-BE49-F238E27FC236}">
                <a16:creationId xmlns:a16="http://schemas.microsoft.com/office/drawing/2014/main" id="{258C1040-F580-484B-9801-5E6FB13EF0CF}"/>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More reviewed data</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Increase urgent examples and preserve a truly untouched final test set.</a:t>
            </a:r>
          </a:p>
        </p:txBody>
      </p:sp>
      <p:sp>
        <p:nvSpPr>
          <p:cNvPr id="12" name="Text-Placeholder-16-13">
            <a:extLst xmlns:a="http://schemas.openxmlformats.org/drawingml/2006/main">
              <a:ext uri="{FF2B5EF4-FFF2-40B4-BE49-F238E27FC236}">
                <a16:creationId xmlns:a16="http://schemas.microsoft.com/office/drawing/2014/main" id="{82824048-48D6-4968-9744-36F44B22BC74}"/>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2400">
                <a:solidFill>
                  <a:srgbClr val="000000"/>
                </a:solidFill>
                <a:latin typeface="Helvetica Neue"/>
                <a:ea typeface="Helvetica Neue"/>
                <a:cs typeface="Helvetica Neue"/>
              </a:rPr>
              <a:t>Same controls</a:t>
            </a:r>
          </a:p>
          <a:p xmlns:a="http://schemas.openxmlformats.org/drawingml/2006/main">
            <a:pPr algn="l">
              <a:lnSpc>
                <a:spcPct val="100000"/>
              </a:lnSpc>
              <a:buNone/>
              <a:defRPr sz="24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Repeat nested evaluation, privacy checks, and a formal human approval gate.</a:t>
            </a:r>
          </a:p>
        </p:txBody>
      </p:sp>
    </p:spTree>
    <p:extLst>
      <p:ext uri="{BB962C8B-B14F-4D97-AF65-F5344CB8AC3E}">
        <p14:creationId xmlns:p14="http://schemas.microsoft.com/office/powerpoint/2010/main" val="121405155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7A191C92-05C3-4BE3-8008-DE2708A77D76}"/>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100000"/>
              </a:lnSpc>
              <a:buNone/>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Repository</a:t>
            </a:r>
          </a:p>
          <a:p xmlns:a="http://schemas.openxmlformats.org/drawingml/2006/main">
            <a:pPr algn="l">
              <a:lnSpc>
                <a:spcPct val="100000"/>
              </a:lnSpc>
              <a:buNone/>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and contact</a:t>
            </a:r>
          </a:p>
        </p:txBody>
      </p:sp>
      <p:sp>
        <p:nvSpPr>
          <p:cNvPr id="2" name="Subtitle-4-2">
            <a:extLst xmlns:a="http://schemas.openxmlformats.org/drawingml/2006/main">
              <a:ext uri="{FF2B5EF4-FFF2-40B4-BE49-F238E27FC236}">
                <a16:creationId xmlns:a16="http://schemas.microsoft.com/office/drawing/2014/main" id="{AEE88714-FEEC-4322-9650-FF4D6B2AF25C}"/>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hlinkClick xmlns:r="http://schemas.openxmlformats.org/officeDocument/2006/relationships" r:id="R514fa381a51a4618"/>
              </a:rPr>
              <a:t>https://</a:t>
            </a:r>
            <a:r>
              <a:rPr sz="1800">
                <a:solidFill>
                  <a:srgbClr val="000000"/>
                </a:solidFill>
                <a:latin typeface="Helvetica Neue"/>
                <a:ea typeface="Helvetica Neue"/>
                <a:cs typeface="Helvetica Neue"/>
                <a:hlinkClick xmlns:r="http://schemas.openxmlformats.org/officeDocument/2006/relationships" r:id="R4df0c4473ef749d5"/>
              </a:rPr>
              <a:t>github.com</a:t>
            </a:r>
            <a:r>
              <a:rPr sz="1800">
                <a:solidFill>
                  <a:srgbClr val="000000"/>
                </a:solidFill>
                <a:latin typeface="Helvetica Neue"/>
                <a:ea typeface="Helvetica Neue"/>
                <a:cs typeface="Helvetica Neue"/>
                <a:hlinkClick xmlns:r="http://schemas.openxmlformats.org/officeDocument/2006/relationships" r:id="R0e1cee73ef114800"/>
              </a:rPr>
              <a:t>/kbroussard34749/</a:t>
            </a:r>
          </a:p>
          <a:p xmlns:a="http://schemas.openxmlformats.org/drawingml/2006/main">
            <a:pPr algn="l">
              <a:lnSpc>
                <a:spcPct val="100000"/>
              </a:lnSpc>
              <a:buNone/>
              <a:defRPr sz="24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hlinkClick xmlns:r="http://schemas.openxmlformats.org/officeDocument/2006/relationships" r:id="R4fc9d3cfbb6f4775"/>
              </a:rPr>
              <a:t>explainable-ai-email-triage</a:t>
            </a:r>
            <a:endParaRPr sz="1800">
              <a:solidFill>
                <a:srgbClr val="000000"/>
              </a:solidFill>
              <a:latin typeface="Helvetica Neue"/>
              <a:ea typeface="Helvetica Neue"/>
              <a:cs typeface="Helvetica Neue"/>
            </a:endParaRPr>
          </a:p>
          <a:p xmlns:a="http://schemas.openxmlformats.org/drawingml/2006/main">
            <a:pPr algn="l">
              <a:lnSpc>
                <a:spcPct val="100000"/>
              </a:lnSpc>
              <a:buNone/>
              <a:defRPr sz="24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hlinkClick xmlns:r="http://schemas.openxmlformats.org/officeDocument/2006/relationships" r:id="R8d304fdd58984157"/>
              </a:rPr>
              <a:t>kbroussard34749@ucumberlands.edu</a:t>
            </a:r>
            <a:endParaRPr sz="1800">
              <a:solidFill>
                <a:srgbClr val="000000"/>
              </a:solidFill>
              <a:latin typeface="Helvetica Neue"/>
              <a:ea typeface="Helvetica Neue"/>
              <a:cs typeface="Helvetica Neue"/>
            </a:endParaRPr>
          </a:p>
        </p:txBody>
      </p:sp>
      <p:sp>
        <p:nvSpPr>
          <p:cNvPr id="3" name="Subtitle-4-3">
            <a:extLst xmlns:a="http://schemas.openxmlformats.org/drawingml/2006/main">
              <a:ext uri="{FF2B5EF4-FFF2-40B4-BE49-F238E27FC236}">
                <a16:creationId xmlns:a16="http://schemas.microsoft.com/office/drawing/2014/main" id="{21C72EA5-65FA-4BD4-93D4-ED2D052F8F68}"/>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0000"/>
              </a:lnSpc>
              <a:buNone/>
              <a:defRPr sz="24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PROJECT ACCESS</a:t>
            </a:r>
          </a:p>
        </p:txBody>
      </p:sp>
    </p:spTree>
    <p:extLst>
      <p:ext uri="{BB962C8B-B14F-4D97-AF65-F5344CB8AC3E}">
        <p14:creationId xmlns:p14="http://schemas.microsoft.com/office/powerpoint/2010/main" val="2795752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2026-08-12T14:35:12.3500000Z</dcterms:created>
  <dcterms:modified xsi:type="dcterms:W3CDTF">2026-08-12T14:35:12.3500000Z</dcterms:modified>
</coreProperties>
</file>