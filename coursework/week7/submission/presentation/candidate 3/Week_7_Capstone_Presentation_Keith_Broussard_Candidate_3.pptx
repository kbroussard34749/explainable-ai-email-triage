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a0e3bff12c4c59" /><Relationship Type="http://schemas.openxmlformats.org/officeDocument/2006/relationships/extended-properties" Target="/docProps/app.xml" Id="Rd5309fc8485a4795" /><Relationship Type="http://schemas.openxmlformats.org/officeDocument/2006/relationships/officeDocument" Target="/ppt/presentation.xml" Id="Re76f3c42364c46f0" /></Relationships>
</file>

<file path=ppt/presentation.xml><?xml version="1.0" encoding="utf-8"?>
<p:presentation xmlns:p="http://schemas.openxmlformats.org/presentationml/2006/main">
  <p:sldMasterIdLst>
    <p:sldMasterId xmlns:r="http://schemas.openxmlformats.org/officeDocument/2006/relationships" id="2147483648" r:id="Rd85c5b2fd2f04e3a"/>
  </p:sldMasterIdLst>
  <p:notesMasterIdLst>
    <p:notesMasterId xmlns:r="http://schemas.openxmlformats.org/officeDocument/2006/relationships" r:id="R03d651670e7d4917"/>
  </p:notesMasterIdLst>
  <p:sldIdLst>
    <p:sldId xmlns:r="http://schemas.openxmlformats.org/officeDocument/2006/relationships" id="256" r:id="Red909bed34774fec"/>
    <p:sldId xmlns:r="http://schemas.openxmlformats.org/officeDocument/2006/relationships" id="257" r:id="Rbe7ef2f8151e4c9a"/>
    <p:sldId xmlns:r="http://schemas.openxmlformats.org/officeDocument/2006/relationships" id="258" r:id="R4c7de216d3714564"/>
    <p:sldId xmlns:r="http://schemas.openxmlformats.org/officeDocument/2006/relationships" id="259" r:id="Re4bd3d1bbf3e4dd5"/>
    <p:sldId xmlns:r="http://schemas.openxmlformats.org/officeDocument/2006/relationships" id="260" r:id="Rf553ecf4491f476f"/>
    <p:sldId xmlns:r="http://schemas.openxmlformats.org/officeDocument/2006/relationships" id="261" r:id="Rbd2d52d163d74f01"/>
    <p:sldId xmlns:r="http://schemas.openxmlformats.org/officeDocument/2006/relationships" id="262" r:id="R9ce645051c8c4cc1"/>
    <p:sldId xmlns:r="http://schemas.openxmlformats.org/officeDocument/2006/relationships" id="263" r:id="Rc70f68e8ea10450b"/>
    <p:sldId xmlns:r="http://schemas.openxmlformats.org/officeDocument/2006/relationships" id="264" r:id="Rd0509c4d9c2d46a4"/>
    <p:sldId xmlns:r="http://schemas.openxmlformats.org/officeDocument/2006/relationships" id="265" r:id="R007e632aa36b47e8"/>
    <p:sldId xmlns:r="http://schemas.openxmlformats.org/officeDocument/2006/relationships" id="266" r:id="Ra931fe78d1034e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97bbb43a943482f" /><Relationship Type="http://schemas.openxmlformats.org/officeDocument/2006/relationships/slideMaster" Target="/ppt/slideMasters/slideMaster1.xml" Id="Rd85c5b2fd2f04e3a" /><Relationship Type="http://schemas.openxmlformats.org/officeDocument/2006/relationships/notesMaster" Target="/ppt/notesMasters/notesMaster1.xml" Id="R03d651670e7d4917" /><Relationship Type="http://schemas.openxmlformats.org/officeDocument/2006/relationships/presProps" Target="/ppt/presProps.xml" Id="Rce990408f40b46d2" /><Relationship Type="http://schemas.openxmlformats.org/officeDocument/2006/relationships/viewProps" Target="/ppt/viewProps.xml" Id="R5fd10e22d64e49ea" /><Relationship Type="http://schemas.openxmlformats.org/officeDocument/2006/relationships/tableStyles" Target="/ppt/tableStyles.xml" Id="Rea74547efb7f43a1" /><Relationship Type="http://schemas.openxmlformats.org/officeDocument/2006/relationships/slide" Target="/ppt/slides/slide1.xml" Id="Red909bed34774fec" /><Relationship Type="http://schemas.openxmlformats.org/officeDocument/2006/relationships/slide" Target="/ppt/slides/slide2.xml" Id="Rbe7ef2f8151e4c9a" /><Relationship Type="http://schemas.openxmlformats.org/officeDocument/2006/relationships/slide" Target="/ppt/slides/slide3.xml" Id="R4c7de216d3714564" /><Relationship Type="http://schemas.openxmlformats.org/officeDocument/2006/relationships/slide" Target="/ppt/slides/slide4.xml" Id="Re4bd3d1bbf3e4dd5" /><Relationship Type="http://schemas.openxmlformats.org/officeDocument/2006/relationships/slide" Target="/ppt/slides/slide5.xml" Id="Rf553ecf4491f476f" /><Relationship Type="http://schemas.openxmlformats.org/officeDocument/2006/relationships/slide" Target="/ppt/slides/slide6.xml" Id="Rbd2d52d163d74f01" /><Relationship Type="http://schemas.openxmlformats.org/officeDocument/2006/relationships/slide" Target="/ppt/slides/slide7.xml" Id="R9ce645051c8c4cc1" /><Relationship Type="http://schemas.openxmlformats.org/officeDocument/2006/relationships/slide" Target="/ppt/slides/slide8.xml" Id="Rc70f68e8ea10450b" /><Relationship Type="http://schemas.openxmlformats.org/officeDocument/2006/relationships/slide" Target="/ppt/slides/slide9.xml" Id="Rd0509c4d9c2d46a4" /><Relationship Type="http://schemas.openxmlformats.org/officeDocument/2006/relationships/slide" Target="/ppt/slides/slide10.xml" Id="R007e632aa36b47e8" /><Relationship Type="http://schemas.openxmlformats.org/officeDocument/2006/relationships/slide" Target="/ppt/slides/slide11.xml" Id="Ra931fe78d1034e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fae868d5764b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97f15bba2a485f" /><Relationship Type="http://schemas.openxmlformats.org/officeDocument/2006/relationships/notesMaster" Target="/ppt/notesMasters/notesMaster1.xml" Id="R28b00cfed2734f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7f217b16dc4584" /><Relationship Type="http://schemas.openxmlformats.org/officeDocument/2006/relationships/notesMaster" Target="/ppt/notesMasters/notesMaster1.xml" Id="Rec09d717afdc43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e7a3f93e344ddf" /><Relationship Type="http://schemas.openxmlformats.org/officeDocument/2006/relationships/notesMaster" Target="/ppt/notesMasters/notesMaster1.xml" Id="R444ec2c33f0d4c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06fec17e5b4031" /><Relationship Type="http://schemas.openxmlformats.org/officeDocument/2006/relationships/notesMaster" Target="/ppt/notesMasters/notesMaster1.xml" Id="Rbd8da833d02d4c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19c81928084ad1" /><Relationship Type="http://schemas.openxmlformats.org/officeDocument/2006/relationships/notesMaster" Target="/ppt/notesMasters/notesMaster1.xml" Id="R5e16616be1a24b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72f4d64d354ffa" /><Relationship Type="http://schemas.openxmlformats.org/officeDocument/2006/relationships/notesMaster" Target="/ppt/notesMasters/notesMaster1.xml" Id="R228b1632160c4d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34c4e20e844c51" /><Relationship Type="http://schemas.openxmlformats.org/officeDocument/2006/relationships/notesMaster" Target="/ppt/notesMasters/notesMaster1.xml" Id="R9e577bcb10ea45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5117e23be543a7" /><Relationship Type="http://schemas.openxmlformats.org/officeDocument/2006/relationships/notesMaster" Target="/ppt/notesMasters/notesMaster1.xml" Id="Rc85f63fa7fb741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c86d094bc54894" /><Relationship Type="http://schemas.openxmlformats.org/officeDocument/2006/relationships/notesMaster" Target="/ppt/notesMasters/notesMaster1.xml" Id="R2418d295df774c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69bc15534d4861" /><Relationship Type="http://schemas.openxmlformats.org/officeDocument/2006/relationships/notesMaster" Target="/ppt/notesMasters/notesMaster1.xml" Id="Rdc6792ca40664a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5f7cf63f1f43df" /><Relationship Type="http://schemas.openxmlformats.org/officeDocument/2006/relationships/notesMaster" Target="/ppt/notesMasters/notesMaster1.xml" Id="Rc238e9ba08b542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0:00-0:20</a:t>
            </a:r>
          </a:p>
          <a:p xmlns:a="http://schemas.openxmlformats.org/drawingml/2006/main">
            <a:r>
              <a:t/>
            </a:r>
            <a:endParaRPr/>
          </a:p>
          <a:p xmlns:a="http://schemas.openxmlformats.org/drawingml/2006/main">
            <a:r>
              <a:t>This project asks a practical question: can an explainable model help people notice potentially urgent email without pretending that software should make the final decision? I will show the evidence gathered, what that evidence establishes today, where reliability breaks down, and what should happen next.</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docs/project_review_guide.md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0:20-1:01</a:t>
            </a:r>
          </a:p>
          <a:p xmlns:a="http://schemas.openxmlformats.org/drawingml/2006/main">
            <a:r>
              <a:t/>
            </a:r>
            <a:endParaRPr/>
          </a:p>
          <a:p xmlns:a="http://schemas.openxmlformats.org/drawingml/2006/main">
            <a:r>
              <a:t>The operational problem is straightforward. Important messages can be buried in a high-volume inbox, but urgency is not just a keyword. It can depend on deadlines, requests, relationships, and context. A useful triage tool should surface messages for attention and show why the model produced its score. The boundary matters just as much as the prediction. False negatives can hide urgent work, while false positives can overwhelm the reviewer. For that reason, this project treats the model as decision support. The system scores the message and provides an explanation, but a person remains responsible for the routing decision.</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docs/decisions.md</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1:01-1:47</a:t>
            </a:r>
          </a:p>
          <a:p xmlns:a="http://schemas.openxmlformats.org/drawingml/2006/main">
            <a:r>
              <a:t/>
            </a:r>
            <a:endParaRPr/>
          </a:p>
          <a:p xmlns:a="http://schemas.openxmlformats.org/drawingml/2006/main">
            <a:r>
              <a:t>The planned Week 8 demonstration will make that boundary visible. A reviewer will enter a synthetic or privacy-screened message and receive an urgency score, classifications at the two frozen thresholds, and a short list of features that supported or opposed the score. Those contributions explain the fitted linear calculation; they are not causal explanations and they do not prove that a message is urgent. The same result will state that human review is required, the disposition is revise, and neither shadow testing nor production deployment is approved. The application is designed not to echo the submitted subject or body into its saved validation results. In practical terms, the interface will expose evidence for review without automating the decision.</a:t>
            </a:r>
          </a:p>
          <a:p xmlns:a="http://schemas.openxmlformats.org/drawingml/2006/main">
            <a:r>
              <a:t/>
            </a:r>
            <a:endParaRPr/>
          </a:p>
          <a:p xmlns:a="http://schemas.openxmlformats.org/drawingml/2006/main">
            <a:r>
              <a:t>[Sources]</a:t>
            </a:r>
          </a:p>
          <a:p xmlns:a="http://schemas.openxmlformats.org/drawingml/2006/main">
            <a:r>
              <a:t>- src/email_triage_demo/README.md</a:t>
            </a:r>
          </a:p>
          <a:p xmlns:a="http://schemas.openxmlformats.org/drawingml/2006/main">
            <a:r>
              <a:t>- src/email_triage_demo/model_service.py</a:t>
            </a:r>
          </a:p>
          <a:p xmlns:a="http://schemas.openxmlformats.org/drawingml/2006/main">
            <a:r>
              <a:t>- src/email_triage_demo/app.py</a:t>
            </a:r>
          </a:p>
          <a:p xmlns:a="http://schemas.openxmlformats.org/drawingml/2006/main">
            <a:r>
              <a:t>- docs/week7_automated_test_report.md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1:47-2:29</a:t>
            </a:r>
          </a:p>
          <a:p xmlns:a="http://schemas.openxmlformats.org/drawingml/2006/main">
            <a:r>
              <a:t/>
            </a:r>
            <a:endParaRPr/>
          </a:p>
          <a:p xmlns:a="http://schemas.openxmlformats.org/drawingml/2006/main">
            <a:r>
              <a:t>The evidence begins with the Enron email corpus, which contains five hundred seventeen thousand, four hundred one source records. The capstone evaluation uses a much smaller reviewed sample of one hundred ninety-nine messages: thirty urgent and one hundred sixty-nine nonurgent. One hundred fifty-nine messages form the fixed training partition, and forty form a preliminary holdout. That sample supports a controlled academic evaluation, not broad claims about every inbox or production prevalence. The raw corpus and detailed review material stay outside the repository, while privacy-screened labels, metrics, notebooks, and decision records provide an auditable evidence trail.</a:t>
            </a:r>
          </a:p>
          <a:p xmlns:a="http://schemas.openxmlformats.org/drawingml/2006/main">
            <a:r>
              <a:t/>
            </a:r>
            <a:endParaRPr/>
          </a:p>
          <a:p xmlns:a="http://schemas.openxmlformats.org/drawingml/2006/main">
            <a:r>
              <a:t>[Sources]</a:t>
            </a:r>
          </a:p>
          <a:p xmlns:a="http://schemas.openxmlformats.org/drawingml/2006/main">
            <a:r>
              <a:t>- data/labels/enron_urgency_labels_v1.csv</a:t>
            </a:r>
          </a:p>
          <a:p xmlns:a="http://schemas.openxmlformats.org/drawingml/2006/main">
            <a:r>
              <a:t>- results/metrics/week6_reproducibility.json</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2:29-3:19</a:t>
            </a:r>
          </a:p>
          <a:p xmlns:a="http://schemas.openxmlformats.org/drawingml/2006/main">
            <a:r>
              <a:t/>
            </a:r>
            <a:endParaRPr/>
          </a:p>
          <a:p xmlns:a="http://schemas.openxmlformats.org/drawingml/2006/main">
            <a:r>
              <a:t>The project advanced through controlled checkpoints. First, the baseline established a reproducible T F I D F and logistic-regression reference. Next, model selection and explanation work used only the training partition. For Week 6, nested cross-validation separated selection from evaluation inside those one hundred fifty-nine training messages. Each outer fold acted as a temporary evaluation set, while the inner folds selected the threshold without seeing that outer fold's labels. The outer results were then combined for error analysis and the model decision. The preliminary holdout was examined only after the training-data decision was frozen, but earlier project work had already influenced it. It is therefore descriptive evidence, not a new untouched final test.</a:t>
            </a:r>
          </a:p>
          <a:p xmlns:a="http://schemas.openxmlformats.org/drawingml/2006/main">
            <a:r>
              <a:t/>
            </a:r>
            <a:endParaRPr/>
          </a:p>
          <a:p xmlns:a="http://schemas.openxmlformats.org/drawingml/2006/main">
            <a:r>
              <a:t>[Sources]</a:t>
            </a:r>
          </a:p>
          <a:p xmlns:a="http://schemas.openxmlformats.org/drawingml/2006/main">
            <a:r>
              <a:t>- notebooks/week6_testing_debugging.ipynb</a:t>
            </a:r>
          </a:p>
          <a:p xmlns:a="http://schemas.openxmlformats.org/drawingml/2006/main">
            <a:r>
              <a:t>- results/metrics/week6_outer_fold_metrics.csv</a:t>
            </a:r>
          </a:p>
          <a:p xmlns:a="http://schemas.openxmlformats.org/drawingml/2006/main">
            <a:r>
              <a:t>- results/metrics/week6_outer_predictions.csv</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3:19-4:12</a:t>
            </a:r>
          </a:p>
          <a:p xmlns:a="http://schemas.openxmlformats.org/drawingml/2006/main">
            <a:r>
              <a:t/>
            </a:r>
            <a:endParaRPr/>
          </a:p>
          <a:p xmlns:a="http://schemas.openxmlformats.org/drawingml/2006/main">
            <a:r>
              <a:t>Optimization improved the training evidence, but the gains were modest. Mean cross-validated urgent F one increased from six point seven percent to eleven point four percent, urgent recall doubled from four percent to eight percent, and the selected T F I D F feature count decreased by twenty-nine percent. These results showed that the workflow could tune and reproduce a candidate. They did not establish a reliable classifier. At the frozen zero point four five threshold, the preliminary holdout identified all six urgent messages but also labeled all thirty-four nonurgent messages urgent. At zero point five zero, the same holdout found two of six urgent messages, missed four, and created one false positive. Together, those results reinforced the need to examine threshold behavior rather than treating recall alone as success.</a:t>
            </a:r>
          </a:p>
          <a:p xmlns:a="http://schemas.openxmlformats.org/drawingml/2006/main">
            <a:r>
              <a:t/>
            </a:r>
            <a:endParaRPr/>
          </a:p>
          <a:p xmlns:a="http://schemas.openxmlformats.org/drawingml/2006/main">
            <a:r>
              <a:t>[Sources]</a:t>
            </a:r>
          </a:p>
          <a:p xmlns:a="http://schemas.openxmlformats.org/drawingml/2006/main">
            <a:r>
              <a:t>- notebooks/week4_model_optimization.ipynb</a:t>
            </a:r>
          </a:p>
          <a:p xmlns:a="http://schemas.openxmlformats.org/drawingml/2006/main">
            <a:r>
              <a:t>- results/metrics/week4_experiment_results.csv</a:t>
            </a:r>
          </a:p>
          <a:p xmlns:a="http://schemas.openxmlformats.org/drawingml/2006/main">
            <a:r>
              <a:t>- results/metrics/week6_preliminary_holdout_comparison.csv</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4:12-4:59</a:t>
            </a:r>
          </a:p>
          <a:p xmlns:a="http://schemas.openxmlformats.org/drawingml/2006/main">
            <a:r>
              <a:t/>
            </a:r>
            <a:endParaRPr/>
          </a:p>
          <a:p xmlns:a="http://schemas.openxmlformats.org/drawingml/2006/main">
            <a:r>
              <a:t>Threshold testing exposed the central reliability problem. At zero point four five, urgent recall reached one hundred percent, but every one of the one hundred fifty-nine training messages was labeled urgent. That created one hundred thirty-five false positives and removed the value of prioritization. At zero point five zero, there were no false positives, but urgent recall fell to eight point three percent. The model found only two of twenty-four urgent messages and missed twenty-two. Another warning is that one hundred fifty-seven probabilities fell between the two thresholds. A change of only zero point zero five therefore moved the system from almost no urgent predictions to all urgent predictions. Neither threshold provides a defensible operating point.</a:t>
            </a:r>
          </a:p>
          <a:p xmlns:a="http://schemas.openxmlformats.org/drawingml/2006/main">
            <a:r>
              <a:t/>
            </a:r>
            <a:endParaRPr/>
          </a:p>
          <a:p xmlns:a="http://schemas.openxmlformats.org/drawingml/2006/main">
            <a:r>
              <a:t>[Sources]</a:t>
            </a:r>
          </a:p>
          <a:p xmlns:a="http://schemas.openxmlformats.org/drawingml/2006/main">
            <a:r>
              <a:t>- notebooks/week6_testing_debugging.ipynb</a:t>
            </a:r>
          </a:p>
          <a:p xmlns:a="http://schemas.openxmlformats.org/drawingml/2006/main">
            <a:r>
              <a:t>- results/metrics/week6_threshold_analysis.csv</a:t>
            </a:r>
          </a:p>
          <a:p xmlns:a="http://schemas.openxmlformats.org/drawingml/2006/main">
            <a:r>
              <a:t>- results/metrics/week6_outer_predictions.csv</a:t>
            </a:r>
          </a:p>
          <a:p xmlns:a="http://schemas.openxmlformats.org/drawingml/2006/main">
            <a:r>
              <a:t>- results/figures/week6_confusion_matrices.png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4:59-5:52</a:t>
            </a:r>
          </a:p>
          <a:p xmlns:a="http://schemas.openxmlformats.org/drawingml/2006/main">
            <a:r>
              <a:t/>
            </a:r>
            <a:endParaRPr/>
          </a:p>
          <a:p xmlns:a="http://schemas.openxmlformats.org/drawingml/2006/main">
            <a:r>
              <a:t>Week 7 software validation was evaluated separately from predictive reliability. All thirteen automated tests passed. They covered the visible research-use disclosure, valid and invalid inputs, safe behavior when the model is unavailable, notebook execution, metric traceability, privacy-sensitive columns, and preservation of the revise decision. A separate validator ran three synthetic cases twenty times each, for sixty total inferences, and produced identical scores within each case. Five Gate A checks passed: artifact boundary, deterministic scoring, non-retention in the result record, threshold visibility, and bounded explanations. This evidence establishes software and interface readiness for the planned Week 8 demonstration. It does not substitute for labeled predictive testing.</a:t>
            </a:r>
          </a:p>
          <a:p xmlns:a="http://schemas.openxmlformats.org/drawingml/2006/main">
            <a:r>
              <a:t/>
            </a:r>
            <a:endParaRPr/>
          </a:p>
          <a:p xmlns:a="http://schemas.openxmlformats.org/drawingml/2006/main">
            <a:r>
              <a:t>[Sources]</a:t>
            </a:r>
          </a:p>
          <a:p xmlns:a="http://schemas.openxmlformats.org/drawingml/2006/main">
            <a:r>
              <a:t>- docs/week7_automated_test_report.md</a:t>
            </a:r>
          </a:p>
          <a:p xmlns:a="http://schemas.openxmlformats.org/drawingml/2006/main">
            <a:r>
              <a:t>- results/metrics/week7_demo_validation.json</a:t>
            </a:r>
          </a:p>
          <a:p xmlns:a="http://schemas.openxmlformats.org/drawingml/2006/main">
            <a:r>
              <a:t>- tests/test_week7_demo.py</a:t>
            </a:r>
          </a:p>
          <a:p xmlns:a="http://schemas.openxmlformats.org/drawingml/2006/main">
            <a:r>
              <a:t>- tests/test_week7_readiness.py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5:52-6:32</a:t>
            </a:r>
          </a:p>
          <a:p xmlns:a="http://schemas.openxmlformats.org/drawingml/2006/main">
            <a:r>
              <a:t/>
            </a:r>
            <a:endParaRPr/>
          </a:p>
          <a:p xmlns:a="http://schemas.openxmlformats.org/drawingml/2006/main">
            <a:r>
              <a:t>The final disposition is revise. Gate A passed as an engineering-readiness check for the planned Week 8 demonstration. Gate B failed because neither tested threshold met the combined recall, precision, F one, review-burden, stability, calibration, and untouched-evaluation requirements. Human review remains required, and shadow testing and production deployment remain unapproved. This conclusion is not a failed project outcome. It is the reliability finding produced by the testing process. The work demonstrates a transparent pipeline, exposes the failure mode, and prevents a weak operating point from being overstated.</a:t>
            </a:r>
          </a:p>
          <a:p xmlns:a="http://schemas.openxmlformats.org/drawingml/2006/main">
            <a:r>
              <a:t/>
            </a:r>
            <a:endParaRPr/>
          </a:p>
          <a:p xmlns:a="http://schemas.openxmlformats.org/drawingml/2006/main">
            <a:r>
              <a:t>[Sources]</a:t>
            </a:r>
          </a:p>
          <a:p xmlns:a="http://schemas.openxmlformats.org/drawingml/2006/main">
            <a:r>
              <a:t>- docs/week7_readiness_evaluation.md</a:t>
            </a:r>
          </a:p>
          <a:p xmlns:a="http://schemas.openxmlformats.org/drawingml/2006/main">
            <a:r>
              <a:t>- results/metrics/week7_readiness_gate_evaluation.csv</a:t>
            </a:r>
          </a:p>
          <a:p xmlns:a="http://schemas.openxmlformats.org/drawingml/2006/main">
            <a:r>
              <a:t>- docs/week7_conditional_advancement_gates.md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6:32-7:15</a:t>
            </a:r>
          </a:p>
          <a:p xmlns:a="http://schemas.openxmlformats.org/drawingml/2006/main">
            <a:r>
              <a:t/>
            </a:r>
            <a:endParaRPr/>
          </a:p>
          <a:p xmlns:a="http://schemas.openxmlformats.org/drawingml/2006/main">
            <a:r>
              <a:t>My recommendation is to demonstrate the validated research workflow in Week 8 while keeping the model decision unchanged. The next predictive experiment should add reviewed examples, reserve a genuinely untouched test set, use related-message grouping where needed, assess calibration, and review false negatives and a reproducible sample of false positives. The same privacy, reproducibility, human-review, and approval controls should remain in place. Only a separately versioned candidate that passes the predictive gates should be considered for a bounded, supervised shadow-test recommendation. Even that step would require an explicit human approval record; it would not create automatic production authorization.</a:t>
            </a:r>
          </a:p>
          <a:p xmlns:a="http://schemas.openxmlformats.org/drawingml/2006/main">
            <a:r>
              <a:t/>
            </a:r>
            <a:endParaRPr/>
          </a:p>
          <a:p xmlns:a="http://schemas.openxmlformats.org/drawingml/2006/main">
            <a:r>
              <a:t>[Sources]</a:t>
            </a:r>
          </a:p>
          <a:p xmlns:a="http://schemas.openxmlformats.org/drawingml/2006/main">
            <a:r>
              <a:t>- docs/week7_conditional_advancement_gates.md</a:t>
            </a:r>
          </a:p>
          <a:p xmlns:a="http://schemas.openxmlformats.org/drawingml/2006/main">
            <a:r>
              <a:t>- docs/week7_demo_runbook.md</a:t>
            </a:r>
          </a:p>
          <a:p xmlns:a="http://schemas.openxmlformats.org/drawingml/2006/main">
            <a:r>
              <a:t>- docs/project_review_guide.md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timing: 7:15-7:36</a:t>
            </a:r>
          </a:p>
          <a:p xmlns:a="http://schemas.openxmlformats.org/drawingml/2006/main">
            <a:r>
              <a:t/>
            </a:r>
            <a:endParaRPr/>
          </a:p>
          <a:p xmlns:a="http://schemas.openxmlformats.org/drawingml/2006/main">
            <a:r>
              <a:t>The repository contains the code, executed notebooks, figures, metrics, experiment records, automated tests, validation evidence, and the Week 8 demonstration runbook. It is available at the GitHub address shown here. Questions about the project can be sent to my University of the Cumberlands email address. Thank you.</a:t>
            </a:r>
          </a:p>
          <a:p xmlns:a="http://schemas.openxmlformats.org/drawingml/2006/main">
            <a:r>
              <a:t/>
            </a:r>
            <a:endParaRPr/>
          </a:p>
          <a:p xmlns:a="http://schemas.openxmlformats.org/drawingml/2006/main">
            <a:r>
              <a:t>[Sources]</a:t>
            </a:r>
          </a:p>
          <a:p xmlns:a="http://schemas.openxmlformats.org/drawingml/2006/main">
            <a:r>
              <a:t>- https://github.com/kbroussard34749/explainable-ai-email-triage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a53f654caa49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dae5cdfcd54ac0" /><Relationship Type="http://schemas.openxmlformats.org/officeDocument/2006/relationships/slideLayout" Target="/ppt/slideLayouts/slideLayout1.xml" Id="R75bb031f64384e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bb031f6438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2d725f1b4b4b1d" /><Relationship Type="http://schemas.openxmlformats.org/officeDocument/2006/relationships/notesSlide" Target="/ppt/notesSlides/notesSlide1.xml" Id="Ra9c87b9c1a4641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0692793f554930" /><Relationship Type="http://schemas.openxmlformats.org/officeDocument/2006/relationships/notesSlide" Target="/ppt/notesSlides/notesSlide2.xml" Id="R1e6e5584461746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cf6ec551864a41" /><Relationship Type="http://schemas.openxmlformats.org/officeDocument/2006/relationships/notesSlide" Target="/ppt/notesSlides/notesSlide3.xml" Id="Re89331c3932244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95505f3c6a480b" /><Relationship Type="http://schemas.openxmlformats.org/officeDocument/2006/relationships/notesSlide" Target="/ppt/notesSlides/notesSlide4.xml" Id="R30ccdaa354b64d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770b16844240c2" /><Relationship Type="http://schemas.openxmlformats.org/officeDocument/2006/relationships/notesSlide" Target="/ppt/notesSlides/notesSlide5.xml" Id="R41b2412cf67649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02f2b0702f45e3" /><Relationship Type="http://schemas.openxmlformats.org/officeDocument/2006/relationships/notesSlide" Target="/ppt/notesSlides/notesSlide6.xml" Id="R6c50264cb61c49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d89adf956c46c9" /><Relationship Type="http://schemas.openxmlformats.org/officeDocument/2006/relationships/image" Target="/ppt/media/image.png" Id="R61b4209f8ba34a44" /><Relationship Type="http://schemas.openxmlformats.org/officeDocument/2006/relationships/notesSlide" Target="/ppt/notesSlides/notesSlide7.xml" Id="R71b0ff0c968542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d50d47480d46fe" /><Relationship Type="http://schemas.openxmlformats.org/officeDocument/2006/relationships/notesSlide" Target="/ppt/notesSlides/notesSlide8.xml" Id="R0f0759045e4946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2dc5e6d78c49a1" /><Relationship Type="http://schemas.openxmlformats.org/officeDocument/2006/relationships/notesSlide" Target="/ppt/notesSlides/notesSlide9.xml" Id="R64bcf2887a8643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fdda76ca6b42fd" /><Relationship Type="http://schemas.openxmlformats.org/officeDocument/2006/relationships/notesSlide" Target="/ppt/notesSlides/notesSlide10.xml" Id="R1e9e217b222f49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d4bc6db3624426" /><Relationship Type="http://schemas.openxmlformats.org/officeDocument/2006/relationships/hyperlink" Target="https://github.com/kbroussard34749/explainable-ai-email-triage" TargetMode="External" Id="Rf553f73515984a1f" /><Relationship Type="http://schemas.openxmlformats.org/officeDocument/2006/relationships/hyperlink" Target="https://github.com/kbroussard34749/explainable-ai-email-triage" TargetMode="External" Id="Rf241cca88f4c4ee5" /><Relationship Type="http://schemas.openxmlformats.org/officeDocument/2006/relationships/hyperlink" Target="https://github.com/kbroussard34749/explainable-ai-email-triage" TargetMode="External" Id="R62e4938bedec435c" /><Relationship Type="http://schemas.openxmlformats.org/officeDocument/2006/relationships/hyperlink" Target="https://github.com/kbroussard34749/explainable-ai-email-triage" TargetMode="External" Id="Rd2303d45b9fa481e" /><Relationship Type="http://schemas.openxmlformats.org/officeDocument/2006/relationships/hyperlink" Target="mailto:kbroussard34749@ucumberlands.edu?subject=Explainable AI Email Triage" TargetMode="External" Id="Rf395ee9e3a55442a" /><Relationship Type="http://schemas.openxmlformats.org/officeDocument/2006/relationships/notesSlide" Target="/ppt/notesSlides/notesSlide11.xml" Id="Rda79b16baca44d42" /></Relationships>
</file>

<file path=ppt/slides/slide1.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7A191C92-05C3-4BE3-8008-DE2708A77D76}"/>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FFFFFF"/>
                </a:solidFill>
                <a:latin typeface="Helvetica Neue"/>
                <a:ea typeface="Helvetica Neue"/>
                <a:cs typeface="Helvetica Neue"/>
              </a:defRPr>
            </a:pPr>
            <a:r>
              <a:rPr sz="6000">
                <a:solidFill>
                  <a:srgbClr val="FFFFFF"/>
                </a:solidFill>
                <a:latin typeface="Helvetica Neue"/>
                <a:ea typeface="Helvetica Neue"/>
                <a:cs typeface="Helvetica Neue"/>
              </a:rPr>
              <a:t>Explainable AI
Email Triage</a:t>
            </a:r>
          </a:p>
        </p:txBody>
      </p:sp>
      <p:sp>
        <p:nvSpPr>
          <p:cNvPr id="2" name="Subtitle-4-2">
            <a:extLst xmlns:a="http://schemas.openxmlformats.org/drawingml/2006/main">
              <a:ext uri="{FF2B5EF4-FFF2-40B4-BE49-F238E27FC236}">
                <a16:creationId xmlns:a16="http://schemas.microsoft.com/office/drawing/2014/main" id="{AEE88714-FEEC-4322-9650-FF4D6B2AF25C}"/>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DCE6F5"/>
                </a:solidFill>
                <a:latin typeface="Helvetica Neue"/>
                <a:ea typeface="Helvetica Neue"/>
                <a:cs typeface="Helvetica Neue"/>
              </a:defRPr>
            </a:pPr>
            <a:r>
              <a:rPr sz="1800">
                <a:solidFill>
                  <a:srgbClr val="DCE6F5"/>
                </a:solidFill>
                <a:latin typeface="Helvetica Neue"/>
                <a:ea typeface="Helvetica Neue"/>
                <a:cs typeface="Helvetica Neue"/>
              </a:rPr>
              <a:t>A research prototype evaluated for urgent-message prioritization
Keith G. Broussard | Summer 2026</a:t>
            </a:r>
          </a:p>
        </p:txBody>
      </p:sp>
      <p:sp>
        <p:nvSpPr>
          <p:cNvPr id="3" name="Subtitle-4-3">
            <a:extLst xmlns:a="http://schemas.openxmlformats.org/drawingml/2006/main">
              <a:ext uri="{FF2B5EF4-FFF2-40B4-BE49-F238E27FC236}">
                <a16:creationId xmlns:a16="http://schemas.microsoft.com/office/drawing/2014/main" id="{21C72EA5-65FA-4BD4-93D4-ED2D052F8F68}"/>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EA5E9"/>
                </a:solidFill>
                <a:latin typeface="Helvetica Neue"/>
                <a:ea typeface="Helvetica Neue"/>
                <a:cs typeface="Helvetica Neue"/>
              </a:defRPr>
            </a:pPr>
            <a:r>
              <a:rPr sz="1800">
                <a:solidFill>
                  <a:srgbClr val="0EA5E9"/>
                </a:solidFill>
                <a:latin typeface="Helvetica Neue"/>
                <a:ea typeface="Helvetica Neue"/>
                <a:cs typeface="Helvetica Neue"/>
              </a:rPr>
              <a:t>MSAI 699 CAPSTONE | WEEK 7</a:t>
            </a:r>
          </a:p>
        </p:txBody>
      </p:sp>
    </p:spTree>
    <p:extLst>
      <p:ext uri="{BB962C8B-B14F-4D97-AF65-F5344CB8AC3E}">
        <p14:creationId xmlns:p14="http://schemas.microsoft.com/office/powerpoint/2010/main" val="2795752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AD19577C-0F8E-4902-8A0E-250496192D7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2</a:t>
            </a:r>
          </a:p>
        </p:txBody>
      </p:sp>
      <p:sp>
        <p:nvSpPr>
          <p:cNvPr id="2" name="Google-Shape-533-p58-3">
            <a:extLst xmlns:a="http://schemas.openxmlformats.org/drawingml/2006/main">
              <a:ext uri="{FF2B5EF4-FFF2-40B4-BE49-F238E27FC236}">
                <a16:creationId xmlns:a16="http://schemas.microsoft.com/office/drawing/2014/main" id="{F8CC2AF5-FF75-46A9-B887-0756DD12674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Prioritize urgent email—keep the human in control</a:t>
            </a:r>
          </a:p>
        </p:txBody>
      </p:sp>
      <p:sp>
        <p:nvSpPr>
          <p:cNvPr id="3" name="Google-Shape-534-p58-4">
            <a:extLst xmlns:a="http://schemas.openxmlformats.org/drawingml/2006/main">
              <a:ext uri="{FF2B5EF4-FFF2-40B4-BE49-F238E27FC236}">
                <a16:creationId xmlns:a16="http://schemas.microsoft.com/office/drawing/2014/main" id="{2902B404-7A46-4392-A47F-EB8645C81B06}"/>
              </a:ext>
            </a:extLst>
          </p:cNvPr>
          <p:cNvSpPr>
            <a:spLocks xmlns:a="http://schemas.openxmlformats.org/drawingml/2006/main" noGrp="1"/>
          </p:cNvSpPr>
          <p:nvPr/>
        </p:nvSpPr>
        <p:spPr>
          <a:xfrm xmlns:a="http://schemas.openxmlformats.org/drawingml/2006/main">
            <a:off x="393668" y="2031968"/>
            <a:ext cx="5537168" cy="1524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Operational need</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Important messages can be buried in a high-volume inbox. A useful triage tool should surface likely urgent items and explain what influenced each score.</a:t>
            </a:r>
          </a:p>
        </p:txBody>
      </p:sp>
      <p:sp>
        <p:nvSpPr>
          <p:cNvPr id="4" name="Content-Placeholder-3-5">
            <a:extLst xmlns:a="http://schemas.openxmlformats.org/drawingml/2006/main">
              <a:ext uri="{FF2B5EF4-FFF2-40B4-BE49-F238E27FC236}">
                <a16:creationId xmlns:a16="http://schemas.microsoft.com/office/drawing/2014/main" id="{A35D5CC3-0AF1-456F-B031-3CE7ACB43883}"/>
              </a:ext>
            </a:extLst>
          </p:cNvPr>
          <p:cNvSpPr>
            <a:spLocks xmlns:a="http://schemas.openxmlformats.org/drawingml/2006/main" noGrp="1"/>
          </p:cNvSpPr>
          <p:nvPr/>
        </p:nvSpPr>
        <p:spPr>
          <a:xfrm xmlns:a="http://schemas.openxmlformats.org/drawingml/2006/main">
            <a:off x="6256592" y="2031968"/>
            <a:ext cx="5537168" cy="1524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Risk boundary</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False negatives can hide urgent work. False positives create review burden. The system remains decision support with human review—not an automatic routing authority.</a:t>
            </a:r>
          </a:p>
        </p:txBody>
      </p:sp>
      <p:sp>
        <p:nvSpPr>
          <p:cNvPr id="6" name="decision-support-flow-line">
            <a:extLst xmlns:a="http://schemas.openxmlformats.org/drawingml/2006/main">
              <a:ext uri="{FF2B5EF4-FFF2-40B4-BE49-F238E27FC236}">
                <a16:creationId xmlns:a16="http://schemas.microsoft.com/office/drawing/2014/main" id="{16384741-1E2F-4970-857F-5C28AC6C2C7A}"/>
              </a:ext>
            </a:extLst>
          </p:cNvPr>
          <p:cNvSpPr>
            <a:spLocks xmlns:a="http://schemas.openxmlformats.org/drawingml/2006/main" noGrp="1"/>
          </p:cNvSpPr>
          <p:nvPr/>
        </p:nvSpPr>
        <p:spPr>
          <a:xfrm xmlns:a="http://schemas.openxmlformats.org/drawingml/2006/main">
            <a:off x="619125" y="4381500"/>
            <a:ext cx="10953750" cy="0"/>
          </a:xfrm>
          <a:prstGeom xmlns:a="http://schemas.openxmlformats.org/drawingml/2006/main" prst="line">
            <a:avLst/>
          </a:prstGeom>
          <a:noFill xmlns:a="http://schemas.openxmlformats.org/drawingml/2006/main"/>
          <a:ln xmlns:a="http://schemas.openxmlformats.org/drawingml/2006/main" w="14288">
            <a:solidFill>
              <a:srgbClr val="B7C5D8"/>
            </a:solidFill>
            <a:prstDash val="solid"/>
          </a:ln>
        </p:spPr>
      </p:sp>
      <p:sp>
        <p:nvSpPr>
          <p:cNvPr id="7" name="decision-support-node-1">
            <a:extLst xmlns:a="http://schemas.openxmlformats.org/drawingml/2006/main">
              <a:ext uri="{FF2B5EF4-FFF2-40B4-BE49-F238E27FC236}">
                <a16:creationId xmlns:a16="http://schemas.microsoft.com/office/drawing/2014/main" id="{0D75972F-6158-4DFF-BBAC-F1398B220027}"/>
              </a:ext>
            </a:extLst>
          </p:cNvPr>
          <p:cNvSpPr>
            <a:spLocks xmlns:a="http://schemas.openxmlformats.org/drawingml/2006/main" noGrp="1"/>
          </p:cNvSpPr>
          <p:nvPr/>
        </p:nvSpPr>
        <p:spPr>
          <a:xfrm xmlns:a="http://schemas.openxmlformats.org/drawingml/2006/main">
            <a:off x="571500" y="4324350"/>
            <a:ext cx="114300" cy="1143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8" name="decision-support-node-2">
            <a:extLst xmlns:a="http://schemas.openxmlformats.org/drawingml/2006/main">
              <a:ext uri="{FF2B5EF4-FFF2-40B4-BE49-F238E27FC236}">
                <a16:creationId xmlns:a16="http://schemas.microsoft.com/office/drawing/2014/main" id="{501A02B9-9923-46CF-BFEB-3E3C60A79DE9}"/>
              </a:ext>
            </a:extLst>
          </p:cNvPr>
          <p:cNvSpPr>
            <a:spLocks xmlns:a="http://schemas.openxmlformats.org/drawingml/2006/main" noGrp="1"/>
          </p:cNvSpPr>
          <p:nvPr/>
        </p:nvSpPr>
        <p:spPr>
          <a:xfrm xmlns:a="http://schemas.openxmlformats.org/drawingml/2006/main">
            <a:off x="4486275" y="4324350"/>
            <a:ext cx="114300" cy="114300"/>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sp>
      <p:sp>
        <p:nvSpPr>
          <p:cNvPr id="9" name="decision-support-node-3">
            <a:extLst xmlns:a="http://schemas.openxmlformats.org/drawingml/2006/main">
              <a:ext uri="{FF2B5EF4-FFF2-40B4-BE49-F238E27FC236}">
                <a16:creationId xmlns:a16="http://schemas.microsoft.com/office/drawing/2014/main" id="{60A3BD58-083F-4CDC-9170-F56C565B6E8D}"/>
              </a:ext>
            </a:extLst>
          </p:cNvPr>
          <p:cNvSpPr>
            <a:spLocks xmlns:a="http://schemas.openxmlformats.org/drawingml/2006/main" noGrp="1"/>
          </p:cNvSpPr>
          <p:nvPr/>
        </p:nvSpPr>
        <p:spPr>
          <a:xfrm xmlns:a="http://schemas.openxmlformats.org/drawingml/2006/main">
            <a:off x="8410575" y="4324350"/>
            <a:ext cx="114300" cy="114300"/>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sp>
      <p:sp>
        <p:nvSpPr>
          <p:cNvPr id="10" name="decision-support-stage-1">
            <a:extLst xmlns:a="http://schemas.openxmlformats.org/drawingml/2006/main">
              <a:ext uri="{FF2B5EF4-FFF2-40B4-BE49-F238E27FC236}">
                <a16:creationId xmlns:a16="http://schemas.microsoft.com/office/drawing/2014/main" id="{9E440284-D845-4AAD-862D-8992486D766A}"/>
              </a:ext>
            </a:extLst>
          </p:cNvPr>
          <p:cNvSpPr>
            <a:spLocks xmlns:a="http://schemas.openxmlformats.org/drawingml/2006/main" noGrp="1"/>
          </p:cNvSpPr>
          <p:nvPr/>
        </p:nvSpPr>
        <p:spPr>
          <a:xfrm xmlns:a="http://schemas.openxmlformats.org/drawingml/2006/main">
            <a:off x="393668"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2563EB"/>
                </a:solidFill>
                <a:latin typeface="Helvetica Neue"/>
                <a:ea typeface="Helvetica Neue"/>
                <a:cs typeface="Helvetica Neue"/>
              </a:defRPr>
            </a:pPr>
            <a:r>
              <a:rPr sz="1425" b="0">
                <a:solidFill>
                  <a:srgbClr val="2563EB"/>
                </a:solidFill>
                <a:latin typeface="Helvetica Neue"/>
                <a:ea typeface="Helvetica Neue"/>
                <a:cs typeface="Helvetica Neue"/>
              </a:rPr>
              <a:t>INPUT</a:t>
            </a:r>
          </a:p>
        </p:txBody>
      </p:sp>
      <p:sp>
        <p:nvSpPr>
          <p:cNvPr id="11" name="decision-support-heading-1">
            <a:extLst xmlns:a="http://schemas.openxmlformats.org/drawingml/2006/main">
              <a:ext uri="{FF2B5EF4-FFF2-40B4-BE49-F238E27FC236}">
                <a16:creationId xmlns:a16="http://schemas.microsoft.com/office/drawing/2014/main" id="{5852F694-A9DD-45F0-B827-A2BACEE160C3}"/>
              </a:ext>
            </a:extLst>
          </p:cNvPr>
          <p:cNvSpPr>
            <a:spLocks xmlns:a="http://schemas.openxmlformats.org/drawingml/2006/main" noGrp="1"/>
          </p:cNvSpPr>
          <p:nvPr/>
        </p:nvSpPr>
        <p:spPr>
          <a:xfrm xmlns:a="http://schemas.openxmlformats.org/drawingml/2006/main">
            <a:off x="393668"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B1F3A"/>
                </a:solidFill>
                <a:latin typeface="Helvetica Neue"/>
                <a:ea typeface="Helvetica Neue"/>
                <a:cs typeface="Helvetica Neue"/>
              </a:defRPr>
            </a:pPr>
            <a:r>
              <a:rPr sz="2250" b="0">
                <a:solidFill>
                  <a:srgbClr val="0B1F3A"/>
                </a:solidFill>
                <a:latin typeface="Helvetica Neue"/>
                <a:ea typeface="Helvetica Neue"/>
                <a:cs typeface="Helvetica Neue"/>
              </a:rPr>
              <a:t>Incoming email</a:t>
            </a:r>
          </a:p>
        </p:txBody>
      </p:sp>
      <p:sp>
        <p:nvSpPr>
          <p:cNvPr id="12" name="decision-support-description-1">
            <a:extLst xmlns:a="http://schemas.openxmlformats.org/drawingml/2006/main">
              <a:ext uri="{FF2B5EF4-FFF2-40B4-BE49-F238E27FC236}">
                <a16:creationId xmlns:a16="http://schemas.microsoft.com/office/drawing/2014/main" id="{349FF16B-EADD-47E7-98F8-D29F13AD98D9}"/>
              </a:ext>
            </a:extLst>
          </p:cNvPr>
          <p:cNvSpPr>
            <a:spLocks xmlns:a="http://schemas.openxmlformats.org/drawingml/2006/main" noGrp="1"/>
          </p:cNvSpPr>
          <p:nvPr/>
        </p:nvSpPr>
        <p:spPr>
          <a:xfrm xmlns:a="http://schemas.openxmlformats.org/drawingml/2006/main">
            <a:off x="393668"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79"/>
                </a:solidFill>
                <a:latin typeface="Helvetica Neue"/>
                <a:ea typeface="Helvetica Neue"/>
                <a:cs typeface="Helvetica Neue"/>
              </a:defRPr>
            </a:pPr>
            <a:r>
              <a:rPr sz="1500" b="0">
                <a:solidFill>
                  <a:srgbClr val="526179"/>
                </a:solidFill>
                <a:latin typeface="Helvetica Neue"/>
                <a:ea typeface="Helvetica Neue"/>
                <a:cs typeface="Helvetica Neue"/>
              </a:rPr>
              <a:t>A message enters the local workflow for review.</a:t>
            </a:r>
          </a:p>
        </p:txBody>
      </p:sp>
      <p:sp>
        <p:nvSpPr>
          <p:cNvPr id="13" name="decision-support-stage-2">
            <a:extLst xmlns:a="http://schemas.openxmlformats.org/drawingml/2006/main">
              <a:ext uri="{FF2B5EF4-FFF2-40B4-BE49-F238E27FC236}">
                <a16:creationId xmlns:a16="http://schemas.microsoft.com/office/drawing/2014/main" id="{CED85AEB-F9AF-4844-98C5-BA37E920CD8E}"/>
              </a:ext>
            </a:extLst>
          </p:cNvPr>
          <p:cNvSpPr>
            <a:spLocks xmlns:a="http://schemas.openxmlformats.org/drawingml/2006/main" noGrp="1"/>
          </p:cNvSpPr>
          <p:nvPr/>
        </p:nvSpPr>
        <p:spPr>
          <a:xfrm xmlns:a="http://schemas.openxmlformats.org/drawingml/2006/main">
            <a:off x="4311682"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F59E0B"/>
                </a:solidFill>
                <a:latin typeface="Helvetica Neue"/>
                <a:ea typeface="Helvetica Neue"/>
                <a:cs typeface="Helvetica Neue"/>
              </a:defRPr>
            </a:pPr>
            <a:r>
              <a:rPr sz="1425" b="0">
                <a:solidFill>
                  <a:srgbClr val="F59E0B"/>
                </a:solidFill>
                <a:latin typeface="Helvetica Neue"/>
                <a:ea typeface="Helvetica Neue"/>
                <a:cs typeface="Helvetica Neue"/>
              </a:rPr>
              <a:t>MODEL SUPPORT</a:t>
            </a:r>
          </a:p>
        </p:txBody>
      </p:sp>
      <p:sp>
        <p:nvSpPr>
          <p:cNvPr id="14" name="decision-support-heading-2">
            <a:extLst xmlns:a="http://schemas.openxmlformats.org/drawingml/2006/main">
              <a:ext uri="{FF2B5EF4-FFF2-40B4-BE49-F238E27FC236}">
                <a16:creationId xmlns:a16="http://schemas.microsoft.com/office/drawing/2014/main" id="{A155F14E-79E9-4BAC-9488-08AC5DA4F84C}"/>
              </a:ext>
            </a:extLst>
          </p:cNvPr>
          <p:cNvSpPr>
            <a:spLocks xmlns:a="http://schemas.openxmlformats.org/drawingml/2006/main" noGrp="1"/>
          </p:cNvSpPr>
          <p:nvPr/>
        </p:nvSpPr>
        <p:spPr>
          <a:xfrm xmlns:a="http://schemas.openxmlformats.org/drawingml/2006/main">
            <a:off x="4311682"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B1F3A"/>
                </a:solidFill>
                <a:latin typeface="Helvetica Neue"/>
                <a:ea typeface="Helvetica Neue"/>
                <a:cs typeface="Helvetica Neue"/>
              </a:defRPr>
            </a:pPr>
            <a:r>
              <a:rPr sz="2250" b="0">
                <a:solidFill>
                  <a:srgbClr val="0B1F3A"/>
                </a:solidFill>
                <a:latin typeface="Helvetica Neue"/>
                <a:ea typeface="Helvetica Neue"/>
                <a:cs typeface="Helvetica Neue"/>
              </a:rPr>
              <a:t>Score + explanation</a:t>
            </a:r>
          </a:p>
        </p:txBody>
      </p:sp>
      <p:sp>
        <p:nvSpPr>
          <p:cNvPr id="15" name="decision-support-description-2">
            <a:extLst xmlns:a="http://schemas.openxmlformats.org/drawingml/2006/main">
              <a:ext uri="{FF2B5EF4-FFF2-40B4-BE49-F238E27FC236}">
                <a16:creationId xmlns:a16="http://schemas.microsoft.com/office/drawing/2014/main" id="{C2B258A2-9278-4FBC-B482-A8B767037B33}"/>
              </a:ext>
            </a:extLst>
          </p:cNvPr>
          <p:cNvSpPr>
            <a:spLocks xmlns:a="http://schemas.openxmlformats.org/drawingml/2006/main" noGrp="1"/>
          </p:cNvSpPr>
          <p:nvPr/>
        </p:nvSpPr>
        <p:spPr>
          <a:xfrm xmlns:a="http://schemas.openxmlformats.org/drawingml/2006/main">
            <a:off x="4311682"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79"/>
                </a:solidFill>
                <a:latin typeface="Helvetica Neue"/>
                <a:ea typeface="Helvetica Neue"/>
                <a:cs typeface="Helvetica Neue"/>
              </a:defRPr>
            </a:pPr>
            <a:r>
              <a:rPr sz="1500" b="0">
                <a:solidFill>
                  <a:srgbClr val="526179"/>
                </a:solidFill>
                <a:latin typeface="Helvetica Neue"/>
                <a:ea typeface="Helvetica Neue"/>
                <a:cs typeface="Helvetica Neue"/>
              </a:rPr>
              <a:t>The model ranks urgency and shows influential terms.</a:t>
            </a:r>
          </a:p>
        </p:txBody>
      </p:sp>
      <p:sp>
        <p:nvSpPr>
          <p:cNvPr id="16" name="decision-support-stage-3">
            <a:extLst xmlns:a="http://schemas.openxmlformats.org/drawingml/2006/main">
              <a:ext uri="{FF2B5EF4-FFF2-40B4-BE49-F238E27FC236}">
                <a16:creationId xmlns:a16="http://schemas.microsoft.com/office/drawing/2014/main" id="{3906733E-39CD-44D6-9910-A2815069C79F}"/>
              </a:ext>
            </a:extLst>
          </p:cNvPr>
          <p:cNvSpPr>
            <a:spLocks xmlns:a="http://schemas.openxmlformats.org/drawingml/2006/main" noGrp="1"/>
          </p:cNvSpPr>
          <p:nvPr/>
        </p:nvSpPr>
        <p:spPr>
          <a:xfrm xmlns:a="http://schemas.openxmlformats.org/drawingml/2006/main">
            <a:off x="8232267"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DC2626"/>
                </a:solidFill>
                <a:latin typeface="Helvetica Neue"/>
                <a:ea typeface="Helvetica Neue"/>
                <a:cs typeface="Helvetica Neue"/>
              </a:defRPr>
            </a:pPr>
            <a:r>
              <a:rPr sz="1425" b="0">
                <a:solidFill>
                  <a:srgbClr val="DC2626"/>
                </a:solidFill>
                <a:latin typeface="Helvetica Neue"/>
                <a:ea typeface="Helvetica Neue"/>
                <a:cs typeface="Helvetica Neue"/>
              </a:rPr>
              <a:t>HUMAN CONTROL</a:t>
            </a:r>
          </a:p>
        </p:txBody>
      </p:sp>
      <p:sp>
        <p:nvSpPr>
          <p:cNvPr id="17" name="decision-support-heading-3">
            <a:extLst xmlns:a="http://schemas.openxmlformats.org/drawingml/2006/main">
              <a:ext uri="{FF2B5EF4-FFF2-40B4-BE49-F238E27FC236}">
                <a16:creationId xmlns:a16="http://schemas.microsoft.com/office/drawing/2014/main" id="{72F3839B-C510-4EE3-B618-9E08B66AAD37}"/>
              </a:ext>
            </a:extLst>
          </p:cNvPr>
          <p:cNvSpPr>
            <a:spLocks xmlns:a="http://schemas.openxmlformats.org/drawingml/2006/main" noGrp="1"/>
          </p:cNvSpPr>
          <p:nvPr/>
        </p:nvSpPr>
        <p:spPr>
          <a:xfrm xmlns:a="http://schemas.openxmlformats.org/drawingml/2006/main">
            <a:off x="8232267"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B1F3A"/>
                </a:solidFill>
                <a:latin typeface="Helvetica Neue"/>
                <a:ea typeface="Helvetica Neue"/>
                <a:cs typeface="Helvetica Neue"/>
              </a:defRPr>
            </a:pPr>
            <a:r>
              <a:rPr sz="2250" b="0">
                <a:solidFill>
                  <a:srgbClr val="0B1F3A"/>
                </a:solidFill>
                <a:latin typeface="Helvetica Neue"/>
                <a:ea typeface="Helvetica Neue"/>
                <a:cs typeface="Helvetica Neue"/>
              </a:rPr>
              <a:t>Human decision</a:t>
            </a:r>
          </a:p>
        </p:txBody>
      </p:sp>
      <p:sp>
        <p:nvSpPr>
          <p:cNvPr id="18" name="decision-support-description-3">
            <a:extLst xmlns:a="http://schemas.openxmlformats.org/drawingml/2006/main">
              <a:ext uri="{FF2B5EF4-FFF2-40B4-BE49-F238E27FC236}">
                <a16:creationId xmlns:a16="http://schemas.microsoft.com/office/drawing/2014/main" id="{8B6374D4-1FEE-4450-AB1A-597853E3DEEA}"/>
              </a:ext>
            </a:extLst>
          </p:cNvPr>
          <p:cNvSpPr>
            <a:spLocks xmlns:a="http://schemas.openxmlformats.org/drawingml/2006/main" noGrp="1"/>
          </p:cNvSpPr>
          <p:nvPr/>
        </p:nvSpPr>
        <p:spPr>
          <a:xfrm xmlns:a="http://schemas.openxmlformats.org/drawingml/2006/main">
            <a:off x="8232267"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79"/>
                </a:solidFill>
                <a:latin typeface="Helvetica Neue"/>
                <a:ea typeface="Helvetica Neue"/>
                <a:cs typeface="Helvetica Neue"/>
              </a:defRPr>
            </a:pPr>
            <a:r>
              <a:rPr sz="1500" b="0">
                <a:solidFill>
                  <a:srgbClr val="526179"/>
                </a:solidFill>
                <a:latin typeface="Helvetica Neue"/>
                <a:ea typeface="Helvetica Neue"/>
                <a:cs typeface="Helvetica Neue"/>
              </a:rPr>
              <a:t>A person reviews the evidence and decides what action is appropriate.</a:t>
            </a:r>
          </a:p>
        </p:txBody>
      </p:sp>
    </p:spTree>
    <p:extLst>
      <p:ext uri="{BB962C8B-B14F-4D97-AF65-F5344CB8AC3E}">
        <p14:creationId xmlns:p14="http://schemas.microsoft.com/office/powerpoint/2010/main" val="192489291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AD19577C-0F8E-4902-8A0E-250496192D7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3</a:t>
            </a:r>
          </a:p>
        </p:txBody>
      </p:sp>
      <p:sp>
        <p:nvSpPr>
          <p:cNvPr id="2" name="Google-Shape-533-p58-3">
            <a:extLst xmlns:a="http://schemas.openxmlformats.org/drawingml/2006/main">
              <a:ext uri="{FF2B5EF4-FFF2-40B4-BE49-F238E27FC236}">
                <a16:creationId xmlns:a16="http://schemas.microsoft.com/office/drawing/2014/main" id="{F8CC2AF5-FF75-46A9-B887-0756DD12674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What the reviewer will see in the Week 8 demonstration</a:t>
            </a:r>
          </a:p>
        </p:txBody>
      </p:sp>
      <p:sp>
        <p:nvSpPr>
          <p:cNvPr id="3" name="Google-Shape-534-p58-4">
            <a:extLst xmlns:a="http://schemas.openxmlformats.org/drawingml/2006/main">
              <a:ext uri="{FF2B5EF4-FFF2-40B4-BE49-F238E27FC236}">
                <a16:creationId xmlns:a16="http://schemas.microsoft.com/office/drawing/2014/main" id="{2902B404-7A46-4392-A47F-EB8645C81B06}"/>
              </a:ext>
            </a:extLst>
          </p:cNvPr>
          <p:cNvSpPr>
            <a:spLocks xmlns:a="http://schemas.openxmlformats.org/drawingml/2006/main" noGrp="1"/>
          </p:cNvSpPr>
          <p:nvPr/>
        </p:nvSpPr>
        <p:spPr>
          <a:xfrm xmlns:a="http://schemas.openxmlformats.org/drawingml/2006/main">
            <a:off x="393668" y="2031968"/>
            <a:ext cx="5537168" cy="1524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Visible evidence</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An urgency score, both frozen threshold classifications, and bounded positive and negative feature contributions.</a:t>
            </a:r>
          </a:p>
        </p:txBody>
      </p:sp>
      <p:sp>
        <p:nvSpPr>
          <p:cNvPr id="4" name="Content-Placeholder-3-5">
            <a:extLst xmlns:a="http://schemas.openxmlformats.org/drawingml/2006/main">
              <a:ext uri="{FF2B5EF4-FFF2-40B4-BE49-F238E27FC236}">
                <a16:creationId xmlns:a16="http://schemas.microsoft.com/office/drawing/2014/main" id="{A35D5CC3-0AF1-456F-B031-3CE7ACB43883}"/>
              </a:ext>
            </a:extLst>
          </p:cNvPr>
          <p:cNvSpPr>
            <a:spLocks xmlns:a="http://schemas.openxmlformats.org/drawingml/2006/main" noGrp="1"/>
          </p:cNvSpPr>
          <p:nvPr/>
        </p:nvSpPr>
        <p:spPr>
          <a:xfrm xmlns:a="http://schemas.openxmlformats.org/drawingml/2006/main">
            <a:off x="6256592" y="2031968"/>
            <a:ext cx="5537168" cy="1524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Guardrails</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Synthetic or privacy-screened input. Human review required. Revise remains visible; no shadow or production approval.</a:t>
            </a:r>
          </a:p>
        </p:txBody>
      </p:sp>
      <p:sp>
        <p:nvSpPr>
          <p:cNvPr id="6" name="decision-support-flow-line">
            <a:extLst xmlns:a="http://schemas.openxmlformats.org/drawingml/2006/main">
              <a:ext uri="{FF2B5EF4-FFF2-40B4-BE49-F238E27FC236}">
                <a16:creationId xmlns:a16="http://schemas.microsoft.com/office/drawing/2014/main" id="{16384741-1E2F-4970-857F-5C28AC6C2C7A}"/>
              </a:ext>
            </a:extLst>
          </p:cNvPr>
          <p:cNvSpPr>
            <a:spLocks xmlns:a="http://schemas.openxmlformats.org/drawingml/2006/main" noGrp="1"/>
          </p:cNvSpPr>
          <p:nvPr/>
        </p:nvSpPr>
        <p:spPr>
          <a:xfrm xmlns:a="http://schemas.openxmlformats.org/drawingml/2006/main">
            <a:off x="619125" y="4381500"/>
            <a:ext cx="10953750" cy="0"/>
          </a:xfrm>
          <a:prstGeom xmlns:a="http://schemas.openxmlformats.org/drawingml/2006/main" prst="line">
            <a:avLst/>
          </a:prstGeom>
          <a:noFill xmlns:a="http://schemas.openxmlformats.org/drawingml/2006/main"/>
          <a:ln xmlns:a="http://schemas.openxmlformats.org/drawingml/2006/main" w="14288">
            <a:solidFill>
              <a:srgbClr val="B7C5D8"/>
            </a:solidFill>
            <a:prstDash val="solid"/>
          </a:ln>
        </p:spPr>
      </p:sp>
      <p:sp>
        <p:nvSpPr>
          <p:cNvPr id="7" name="decision-support-node-1">
            <a:extLst xmlns:a="http://schemas.openxmlformats.org/drawingml/2006/main">
              <a:ext uri="{FF2B5EF4-FFF2-40B4-BE49-F238E27FC236}">
                <a16:creationId xmlns:a16="http://schemas.microsoft.com/office/drawing/2014/main" id="{0D75972F-6158-4DFF-BBAC-F1398B220027}"/>
              </a:ext>
            </a:extLst>
          </p:cNvPr>
          <p:cNvSpPr>
            <a:spLocks xmlns:a="http://schemas.openxmlformats.org/drawingml/2006/main" noGrp="1"/>
          </p:cNvSpPr>
          <p:nvPr/>
        </p:nvSpPr>
        <p:spPr>
          <a:xfrm xmlns:a="http://schemas.openxmlformats.org/drawingml/2006/main">
            <a:off x="571500" y="4324350"/>
            <a:ext cx="114300" cy="1143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8" name="decision-support-node-2">
            <a:extLst xmlns:a="http://schemas.openxmlformats.org/drawingml/2006/main">
              <a:ext uri="{FF2B5EF4-FFF2-40B4-BE49-F238E27FC236}">
                <a16:creationId xmlns:a16="http://schemas.microsoft.com/office/drawing/2014/main" id="{501A02B9-9923-46CF-BFEB-3E3C60A79DE9}"/>
              </a:ext>
            </a:extLst>
          </p:cNvPr>
          <p:cNvSpPr>
            <a:spLocks xmlns:a="http://schemas.openxmlformats.org/drawingml/2006/main" noGrp="1"/>
          </p:cNvSpPr>
          <p:nvPr/>
        </p:nvSpPr>
        <p:spPr>
          <a:xfrm xmlns:a="http://schemas.openxmlformats.org/drawingml/2006/main">
            <a:off x="4486275" y="4324350"/>
            <a:ext cx="114300" cy="114300"/>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sp>
      <p:sp>
        <p:nvSpPr>
          <p:cNvPr id="9" name="decision-support-node-3">
            <a:extLst xmlns:a="http://schemas.openxmlformats.org/drawingml/2006/main">
              <a:ext uri="{FF2B5EF4-FFF2-40B4-BE49-F238E27FC236}">
                <a16:creationId xmlns:a16="http://schemas.microsoft.com/office/drawing/2014/main" id="{60A3BD58-083F-4CDC-9170-F56C565B6E8D}"/>
              </a:ext>
            </a:extLst>
          </p:cNvPr>
          <p:cNvSpPr>
            <a:spLocks xmlns:a="http://schemas.openxmlformats.org/drawingml/2006/main" noGrp="1"/>
          </p:cNvSpPr>
          <p:nvPr/>
        </p:nvSpPr>
        <p:spPr>
          <a:xfrm xmlns:a="http://schemas.openxmlformats.org/drawingml/2006/main">
            <a:off x="8410575" y="4324350"/>
            <a:ext cx="114300" cy="114300"/>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sp>
      <p:sp>
        <p:nvSpPr>
          <p:cNvPr id="10" name="decision-support-stage-1">
            <a:extLst xmlns:a="http://schemas.openxmlformats.org/drawingml/2006/main">
              <a:ext uri="{FF2B5EF4-FFF2-40B4-BE49-F238E27FC236}">
                <a16:creationId xmlns:a16="http://schemas.microsoft.com/office/drawing/2014/main" id="{9E440284-D845-4AAD-862D-8992486D766A}"/>
              </a:ext>
            </a:extLst>
          </p:cNvPr>
          <p:cNvSpPr>
            <a:spLocks xmlns:a="http://schemas.openxmlformats.org/drawingml/2006/main" noGrp="1"/>
          </p:cNvSpPr>
          <p:nvPr/>
        </p:nvSpPr>
        <p:spPr>
          <a:xfrm xmlns:a="http://schemas.openxmlformats.org/drawingml/2006/main">
            <a:off x="393668"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2563EB"/>
                </a:solidFill>
                <a:latin typeface="Helvetica Neue"/>
                <a:ea typeface="Helvetica Neue"/>
                <a:cs typeface="Helvetica Neue"/>
              </a:defRPr>
            </a:pPr>
            <a:r>
              <a:rPr sz="1425" b="0">
                <a:solidFill>
                  <a:srgbClr val="2563EB"/>
                </a:solidFill>
                <a:latin typeface="Helvetica Neue"/>
                <a:ea typeface="Helvetica Neue"/>
                <a:cs typeface="Helvetica Neue"/>
              </a:rPr>
              <a:t>INPUT</a:t>
            </a:r>
          </a:p>
        </p:txBody>
      </p:sp>
      <p:sp>
        <p:nvSpPr>
          <p:cNvPr id="11" name="decision-support-heading-1">
            <a:extLst xmlns:a="http://schemas.openxmlformats.org/drawingml/2006/main">
              <a:ext uri="{FF2B5EF4-FFF2-40B4-BE49-F238E27FC236}">
                <a16:creationId xmlns:a16="http://schemas.microsoft.com/office/drawing/2014/main" id="{5852F694-A9DD-45F0-B827-A2BACEE160C3}"/>
              </a:ext>
            </a:extLst>
          </p:cNvPr>
          <p:cNvSpPr>
            <a:spLocks xmlns:a="http://schemas.openxmlformats.org/drawingml/2006/main" noGrp="1"/>
          </p:cNvSpPr>
          <p:nvPr/>
        </p:nvSpPr>
        <p:spPr>
          <a:xfrm xmlns:a="http://schemas.openxmlformats.org/drawingml/2006/main">
            <a:off x="393668"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B1F3A"/>
                </a:solidFill>
                <a:latin typeface="Helvetica Neue"/>
                <a:ea typeface="Helvetica Neue"/>
                <a:cs typeface="Helvetica Neue"/>
              </a:defRPr>
            </a:pPr>
            <a:r>
              <a:rPr sz="2250" b="0">
                <a:solidFill>
                  <a:srgbClr val="0B1F3A"/>
                </a:solidFill>
                <a:latin typeface="Helvetica Neue"/>
                <a:ea typeface="Helvetica Neue"/>
                <a:cs typeface="Helvetica Neue"/>
              </a:rPr>
              <a:t>Synthetic message</a:t>
            </a:r>
          </a:p>
        </p:txBody>
      </p:sp>
      <p:sp>
        <p:nvSpPr>
          <p:cNvPr id="12" name="decision-support-description-1">
            <a:extLst xmlns:a="http://schemas.openxmlformats.org/drawingml/2006/main">
              <a:ext uri="{FF2B5EF4-FFF2-40B4-BE49-F238E27FC236}">
                <a16:creationId xmlns:a16="http://schemas.microsoft.com/office/drawing/2014/main" id="{349FF16B-EADD-47E7-98F8-D29F13AD98D9}"/>
              </a:ext>
            </a:extLst>
          </p:cNvPr>
          <p:cNvSpPr>
            <a:spLocks xmlns:a="http://schemas.openxmlformats.org/drawingml/2006/main" noGrp="1"/>
          </p:cNvSpPr>
          <p:nvPr/>
        </p:nvSpPr>
        <p:spPr>
          <a:xfrm xmlns:a="http://schemas.openxmlformats.org/drawingml/2006/main">
            <a:off x="393668"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79"/>
                </a:solidFill>
                <a:latin typeface="Helvetica Neue"/>
                <a:ea typeface="Helvetica Neue"/>
                <a:cs typeface="Helvetica Neue"/>
              </a:defRPr>
            </a:pPr>
            <a:r>
              <a:rPr sz="1500" b="0">
                <a:solidFill>
                  <a:srgbClr val="526179"/>
                </a:solidFill>
                <a:latin typeface="Helvetica Neue"/>
                <a:ea typeface="Helvetica Neue"/>
                <a:cs typeface="Helvetica Neue"/>
              </a:rPr>
              <a:t>Privacy-screened content enters a local session.</a:t>
            </a:r>
          </a:p>
        </p:txBody>
      </p:sp>
      <p:sp>
        <p:nvSpPr>
          <p:cNvPr id="13" name="decision-support-stage-2">
            <a:extLst xmlns:a="http://schemas.openxmlformats.org/drawingml/2006/main">
              <a:ext uri="{FF2B5EF4-FFF2-40B4-BE49-F238E27FC236}">
                <a16:creationId xmlns:a16="http://schemas.microsoft.com/office/drawing/2014/main" id="{CED85AEB-F9AF-4844-98C5-BA37E920CD8E}"/>
              </a:ext>
            </a:extLst>
          </p:cNvPr>
          <p:cNvSpPr>
            <a:spLocks xmlns:a="http://schemas.openxmlformats.org/drawingml/2006/main" noGrp="1"/>
          </p:cNvSpPr>
          <p:nvPr/>
        </p:nvSpPr>
        <p:spPr>
          <a:xfrm xmlns:a="http://schemas.openxmlformats.org/drawingml/2006/main">
            <a:off x="4311682"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F59E0B"/>
                </a:solidFill>
                <a:latin typeface="Helvetica Neue"/>
                <a:ea typeface="Helvetica Neue"/>
                <a:cs typeface="Helvetica Neue"/>
              </a:defRPr>
            </a:pPr>
            <a:r>
              <a:rPr sz="1425" b="0">
                <a:solidFill>
                  <a:srgbClr val="F59E0B"/>
                </a:solidFill>
                <a:latin typeface="Helvetica Neue"/>
                <a:ea typeface="Helvetica Neue"/>
                <a:cs typeface="Helvetica Neue"/>
              </a:rPr>
              <a:t>COMPARE</a:t>
            </a:r>
          </a:p>
        </p:txBody>
      </p:sp>
      <p:sp>
        <p:nvSpPr>
          <p:cNvPr id="14" name="decision-support-heading-2">
            <a:extLst xmlns:a="http://schemas.openxmlformats.org/drawingml/2006/main">
              <a:ext uri="{FF2B5EF4-FFF2-40B4-BE49-F238E27FC236}">
                <a16:creationId xmlns:a16="http://schemas.microsoft.com/office/drawing/2014/main" id="{A155F14E-79E9-4BAC-9488-08AC5DA4F84C}"/>
              </a:ext>
            </a:extLst>
          </p:cNvPr>
          <p:cNvSpPr>
            <a:spLocks xmlns:a="http://schemas.openxmlformats.org/drawingml/2006/main" noGrp="1"/>
          </p:cNvSpPr>
          <p:nvPr/>
        </p:nvSpPr>
        <p:spPr>
          <a:xfrm xmlns:a="http://schemas.openxmlformats.org/drawingml/2006/main">
            <a:off x="4311682"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B1F3A"/>
                </a:solidFill>
                <a:latin typeface="Helvetica Neue"/>
                <a:ea typeface="Helvetica Neue"/>
                <a:cs typeface="Helvetica Neue"/>
              </a:defRPr>
            </a:pPr>
            <a:r>
              <a:rPr sz="2250" b="0">
                <a:solidFill>
                  <a:srgbClr val="0B1F3A"/>
                </a:solidFill>
                <a:latin typeface="Helvetica Neue"/>
                <a:ea typeface="Helvetica Neue"/>
                <a:cs typeface="Helvetica Neue"/>
              </a:rPr>
              <a:t>Score + thresholds</a:t>
            </a:r>
          </a:p>
        </p:txBody>
      </p:sp>
      <p:sp>
        <p:nvSpPr>
          <p:cNvPr id="15" name="decision-support-description-2">
            <a:extLst xmlns:a="http://schemas.openxmlformats.org/drawingml/2006/main">
              <a:ext uri="{FF2B5EF4-FFF2-40B4-BE49-F238E27FC236}">
                <a16:creationId xmlns:a16="http://schemas.microsoft.com/office/drawing/2014/main" id="{C2B258A2-9278-4FBC-B482-A8B767037B33}"/>
              </a:ext>
            </a:extLst>
          </p:cNvPr>
          <p:cNvSpPr>
            <a:spLocks xmlns:a="http://schemas.openxmlformats.org/drawingml/2006/main" noGrp="1"/>
          </p:cNvSpPr>
          <p:nvPr/>
        </p:nvSpPr>
        <p:spPr>
          <a:xfrm xmlns:a="http://schemas.openxmlformats.org/drawingml/2006/main">
            <a:off x="4311682"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79"/>
                </a:solidFill>
                <a:latin typeface="Helvetica Neue"/>
                <a:ea typeface="Helvetica Neue"/>
                <a:cs typeface="Helvetica Neue"/>
              </a:defRPr>
            </a:pPr>
            <a:r>
              <a:rPr sz="1500" b="0">
                <a:solidFill>
                  <a:srgbClr val="526179"/>
                </a:solidFill>
                <a:latin typeface="Helvetica Neue"/>
                <a:ea typeface="Helvetica Neue"/>
                <a:cs typeface="Helvetica Neue"/>
              </a:rPr>
              <a:t>The result shows 0.45 and 0.50 side by side.</a:t>
            </a:r>
          </a:p>
        </p:txBody>
      </p:sp>
      <p:sp>
        <p:nvSpPr>
          <p:cNvPr id="16" name="decision-support-stage-3">
            <a:extLst xmlns:a="http://schemas.openxmlformats.org/drawingml/2006/main">
              <a:ext uri="{FF2B5EF4-FFF2-40B4-BE49-F238E27FC236}">
                <a16:creationId xmlns:a16="http://schemas.microsoft.com/office/drawing/2014/main" id="{3906733E-39CD-44D6-9910-A2815069C79F}"/>
              </a:ext>
            </a:extLst>
          </p:cNvPr>
          <p:cNvSpPr>
            <a:spLocks xmlns:a="http://schemas.openxmlformats.org/drawingml/2006/main" noGrp="1"/>
          </p:cNvSpPr>
          <p:nvPr/>
        </p:nvSpPr>
        <p:spPr>
          <a:xfrm xmlns:a="http://schemas.openxmlformats.org/drawingml/2006/main">
            <a:off x="8232267"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DC2626"/>
                </a:solidFill>
                <a:latin typeface="Helvetica Neue"/>
                <a:ea typeface="Helvetica Neue"/>
                <a:cs typeface="Helvetica Neue"/>
              </a:defRPr>
            </a:pPr>
            <a:r>
              <a:rPr sz="1425" b="0">
                <a:solidFill>
                  <a:srgbClr val="DC2626"/>
                </a:solidFill>
                <a:latin typeface="Helvetica Neue"/>
                <a:ea typeface="Helvetica Neue"/>
                <a:cs typeface="Helvetica Neue"/>
              </a:rPr>
              <a:t>HUMAN CONTROL</a:t>
            </a:r>
          </a:p>
        </p:txBody>
      </p:sp>
      <p:sp>
        <p:nvSpPr>
          <p:cNvPr id="17" name="decision-support-heading-3">
            <a:extLst xmlns:a="http://schemas.openxmlformats.org/drawingml/2006/main">
              <a:ext uri="{FF2B5EF4-FFF2-40B4-BE49-F238E27FC236}">
                <a16:creationId xmlns:a16="http://schemas.microsoft.com/office/drawing/2014/main" id="{72F3839B-C510-4EE3-B618-9E08B66AAD37}"/>
              </a:ext>
            </a:extLst>
          </p:cNvPr>
          <p:cNvSpPr>
            <a:spLocks xmlns:a="http://schemas.openxmlformats.org/drawingml/2006/main" noGrp="1"/>
          </p:cNvSpPr>
          <p:nvPr/>
        </p:nvSpPr>
        <p:spPr>
          <a:xfrm xmlns:a="http://schemas.openxmlformats.org/drawingml/2006/main">
            <a:off x="8232267"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B1F3A"/>
                </a:solidFill>
                <a:latin typeface="Helvetica Neue"/>
                <a:ea typeface="Helvetica Neue"/>
                <a:cs typeface="Helvetica Neue"/>
              </a:defRPr>
            </a:pPr>
            <a:r>
              <a:rPr sz="2250" b="0">
                <a:solidFill>
                  <a:srgbClr val="0B1F3A"/>
                </a:solidFill>
                <a:latin typeface="Helvetica Neue"/>
                <a:ea typeface="Helvetica Neue"/>
                <a:cs typeface="Helvetica Neue"/>
              </a:rPr>
              <a:t>Reviewer decision</a:t>
            </a:r>
          </a:p>
        </p:txBody>
      </p:sp>
      <p:sp>
        <p:nvSpPr>
          <p:cNvPr id="18" name="decision-support-description-3">
            <a:extLst xmlns:a="http://schemas.openxmlformats.org/drawingml/2006/main">
              <a:ext uri="{FF2B5EF4-FFF2-40B4-BE49-F238E27FC236}">
                <a16:creationId xmlns:a16="http://schemas.microsoft.com/office/drawing/2014/main" id="{8B6374D4-1FEE-4450-AB1A-597853E3DEEA}"/>
              </a:ext>
            </a:extLst>
          </p:cNvPr>
          <p:cNvSpPr>
            <a:spLocks xmlns:a="http://schemas.openxmlformats.org/drawingml/2006/main" noGrp="1"/>
          </p:cNvSpPr>
          <p:nvPr/>
        </p:nvSpPr>
        <p:spPr>
          <a:xfrm xmlns:a="http://schemas.openxmlformats.org/drawingml/2006/main">
            <a:off x="8232267"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79"/>
                </a:solidFill>
                <a:latin typeface="Helvetica Neue"/>
                <a:ea typeface="Helvetica Neue"/>
                <a:cs typeface="Helvetica Neue"/>
              </a:defRPr>
            </a:pPr>
            <a:r>
              <a:rPr sz="1500" b="0">
                <a:solidFill>
                  <a:srgbClr val="526179"/>
                </a:solidFill>
                <a:latin typeface="Helvetica Neue"/>
                <a:ea typeface="Helvetica Neue"/>
                <a:cs typeface="Helvetica Neue"/>
              </a:rPr>
              <a:t>A person interprets the evidence and chooses the action.</a:t>
            </a:r>
          </a:p>
        </p:txBody>
      </p:sp>
    </p:spTree>
    <p:extLst>
      <p:ext uri="{BB962C8B-B14F-4D97-AF65-F5344CB8AC3E}">
        <p14:creationId xmlns:p14="http://schemas.microsoft.com/office/powerpoint/2010/main" val="19248929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D7AFE404-929B-4FD7-AEFB-6485D21F2A1B}"/>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EAF2FF"/>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Rounded-Rectangle-6-2">
            <a:extLst xmlns:a="http://schemas.openxmlformats.org/drawingml/2006/main">
              <a:ext uri="{FF2B5EF4-FFF2-40B4-BE49-F238E27FC236}">
                <a16:creationId xmlns:a16="http://schemas.microsoft.com/office/drawing/2014/main" id="{5A47A26D-BE18-46B5-AB2C-1FA67CE0D98E}"/>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4F7FB"/>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Rounded-Rectangle-7-3">
            <a:extLst xmlns:a="http://schemas.openxmlformats.org/drawingml/2006/main">
              <a:ext uri="{FF2B5EF4-FFF2-40B4-BE49-F238E27FC236}">
                <a16:creationId xmlns:a16="http://schemas.microsoft.com/office/drawing/2014/main" id="{BF04191B-E7C4-4689-9069-62D2EA5D1A59}"/>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DEBEC"/>
          </a:solidFill>
          <a:ln xmlns:a="http://schemas.openxmlformats.org/drawingml/2006/main" w="9525">
            <a:solidFill>
              <a:srgbClr val="F4B7BC"/>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Slide-Number-Placeholder-1-4">
            <a:extLst xmlns:a="http://schemas.openxmlformats.org/drawingml/2006/main">
              <a:ext uri="{FF2B5EF4-FFF2-40B4-BE49-F238E27FC236}">
                <a16:creationId xmlns:a16="http://schemas.microsoft.com/office/drawing/2014/main" id="{BDE59CBE-9F83-459F-B64D-15AF56F6A0F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4</a:t>
            </a:r>
          </a:p>
        </p:txBody>
      </p:sp>
      <p:sp>
        <p:nvSpPr>
          <p:cNvPr id="5" name="Title-2-5">
            <a:extLst xmlns:a="http://schemas.openxmlformats.org/drawingml/2006/main">
              <a:ext uri="{FF2B5EF4-FFF2-40B4-BE49-F238E27FC236}">
                <a16:creationId xmlns:a16="http://schemas.microsoft.com/office/drawing/2014/main" id="{8E437F1F-C917-4A84-A4D4-B3C3BB98886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A small reviewed sample defines the evidence boundary</a:t>
            </a:r>
          </a:p>
        </p:txBody>
      </p:sp>
      <p:sp>
        <p:nvSpPr>
          <p:cNvPr id="6" name="Content-Placeholder-9-6">
            <a:extLst xmlns:a="http://schemas.openxmlformats.org/drawingml/2006/main">
              <a:ext uri="{FF2B5EF4-FFF2-40B4-BE49-F238E27FC236}">
                <a16:creationId xmlns:a16="http://schemas.microsoft.com/office/drawing/2014/main" id="{4C2B64E7-14F1-44FD-8B67-F56FD152E31B}"/>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Source records in the Kaggle Enron distribution.</a:t>
            </a:r>
          </a:p>
        </p:txBody>
      </p:sp>
      <p:sp>
        <p:nvSpPr>
          <p:cNvPr id="7" name="Content-Placeholder-10-7">
            <a:extLst xmlns:a="http://schemas.openxmlformats.org/drawingml/2006/main">
              <a:ext uri="{FF2B5EF4-FFF2-40B4-BE49-F238E27FC236}">
                <a16:creationId xmlns:a16="http://schemas.microsoft.com/office/drawing/2014/main" id="{D958F9CD-22D6-4C59-88ED-49E9ADED1FEB}"/>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Urgent messages; the remaining 169 were nonurgent.</a:t>
            </a:r>
          </a:p>
        </p:txBody>
      </p:sp>
      <p:sp>
        <p:nvSpPr>
          <p:cNvPr id="8" name="Content-Placeholder-11-8">
            <a:extLst xmlns:a="http://schemas.openxmlformats.org/drawingml/2006/main">
              <a:ext uri="{FF2B5EF4-FFF2-40B4-BE49-F238E27FC236}">
                <a16:creationId xmlns:a16="http://schemas.microsoft.com/office/drawing/2014/main" id="{9FBD14D4-48D8-41A4-8E20-84A6C9FACE7B}"/>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Reviewed labeled messages used for this capstone evaluation.</a:t>
            </a:r>
          </a:p>
        </p:txBody>
      </p:sp>
      <p:sp>
        <p:nvSpPr>
          <p:cNvPr id="9" name="Content-Placeholder-9-9">
            <a:extLst xmlns:a="http://schemas.openxmlformats.org/drawingml/2006/main">
              <a:ext uri="{FF2B5EF4-FFF2-40B4-BE49-F238E27FC236}">
                <a16:creationId xmlns:a16="http://schemas.microsoft.com/office/drawing/2014/main" id="{E7EB0677-F6A4-4C8C-BE0C-731A862EE9E2}"/>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2563EB"/>
                </a:solidFill>
                <a:latin typeface="Helvetica Neue"/>
                <a:ea typeface="Helvetica Neue"/>
                <a:cs typeface="Helvetica Neue"/>
              </a:defRPr>
            </a:pPr>
            <a:r>
              <a:rPr sz="4200">
                <a:solidFill>
                  <a:srgbClr val="2563EB"/>
                </a:solidFill>
                <a:latin typeface="Helvetica Neue"/>
                <a:ea typeface="Helvetica Neue"/>
                <a:cs typeface="Helvetica Neue"/>
              </a:rPr>
              <a:t>517,401</a:t>
            </a:r>
          </a:p>
        </p:txBody>
      </p:sp>
      <p:sp>
        <p:nvSpPr>
          <p:cNvPr id="10" name="Content-Placeholder-9-10">
            <a:extLst xmlns:a="http://schemas.openxmlformats.org/drawingml/2006/main">
              <a:ext uri="{FF2B5EF4-FFF2-40B4-BE49-F238E27FC236}">
                <a16:creationId xmlns:a16="http://schemas.microsoft.com/office/drawing/2014/main" id="{EA9D8539-2C7E-48EE-8853-D9A2109B76A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B1F3A"/>
                </a:solidFill>
                <a:latin typeface="Helvetica Neue"/>
                <a:ea typeface="Helvetica Neue"/>
                <a:cs typeface="Helvetica Neue"/>
              </a:defRPr>
            </a:pPr>
            <a:r>
              <a:rPr sz="4200">
                <a:solidFill>
                  <a:srgbClr val="0B1F3A"/>
                </a:solidFill>
                <a:latin typeface="Helvetica Neue"/>
                <a:ea typeface="Helvetica Neue"/>
                <a:cs typeface="Helvetica Neue"/>
              </a:rPr>
              <a:t>199</a:t>
            </a:r>
          </a:p>
        </p:txBody>
      </p:sp>
      <p:sp>
        <p:nvSpPr>
          <p:cNvPr id="11" name="Content-Placeholder-9-11">
            <a:extLst xmlns:a="http://schemas.openxmlformats.org/drawingml/2006/main">
              <a:ext uri="{FF2B5EF4-FFF2-40B4-BE49-F238E27FC236}">
                <a16:creationId xmlns:a16="http://schemas.microsoft.com/office/drawing/2014/main" id="{4FFCC006-489C-428F-AD62-5C14EB7C8950}"/>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DC2626"/>
                </a:solidFill>
                <a:latin typeface="Helvetica Neue"/>
                <a:ea typeface="Helvetica Neue"/>
                <a:cs typeface="Helvetica Neue"/>
              </a:defRPr>
            </a:pPr>
            <a:r>
              <a:rPr sz="4200">
                <a:solidFill>
                  <a:srgbClr val="DC2626"/>
                </a:solidFill>
                <a:latin typeface="Helvetica Neue"/>
                <a:ea typeface="Helvetica Neue"/>
                <a:cs typeface="Helvetica Neue"/>
              </a:rPr>
              <a:t>30</a:t>
            </a:r>
          </a:p>
        </p:txBody>
      </p:sp>
      <p:sp>
        <p:nvSpPr>
          <p:cNvPr id="12" name="Content-Placeholder-15-12">
            <a:extLst xmlns:a="http://schemas.openxmlformats.org/drawingml/2006/main">
              <a:ext uri="{FF2B5EF4-FFF2-40B4-BE49-F238E27FC236}">
                <a16:creationId xmlns:a16="http://schemas.microsoft.com/office/drawing/2014/main" id="{356E08A9-FE7E-4A9F-8004-1CBEDD760C02}"/>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172033"/>
                </a:solidFill>
                <a:latin typeface="Helvetica Neue"/>
                <a:ea typeface="Helvetica Neue"/>
                <a:cs typeface="Helvetica Neue"/>
              </a:defRPr>
            </a:pPr>
            <a:r>
              <a:rPr sz="1800">
                <a:solidFill>
                  <a:srgbClr val="172033"/>
                </a:solidFill>
                <a:latin typeface="Helvetica Neue"/>
                <a:ea typeface="Helvetica Neue"/>
                <a:cs typeface="Helvetica Neue"/>
              </a:rPr>
              <a:t>Evidence scope</a:t>
            </a:r>
          </a:p>
          <a:p xmlns:a="http://schemas.openxmlformats.org/drawingml/2006/main">
            <a:pPr algn="l">
              <a:lnSpc>
                <a:spcPct val="100000"/>
              </a:lnSpc>
              <a:buNone/>
              <a:defRPr sz="16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Source records were filtered and manually reviewed before modeling.</a:t>
            </a:r>
          </a:p>
        </p:txBody>
      </p:sp>
    </p:spTree>
    <p:extLst>
      <p:ext uri="{BB962C8B-B14F-4D97-AF65-F5344CB8AC3E}">
        <p14:creationId xmlns:p14="http://schemas.microsoft.com/office/powerpoint/2010/main" val="11239410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52D8D8B-643F-4DDB-9763-EF0912E2E4A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5</a:t>
            </a:r>
          </a:p>
        </p:txBody>
      </p:sp>
      <p:sp>
        <p:nvSpPr>
          <p:cNvPr id="2" name="Title-10-3">
            <a:extLst xmlns:a="http://schemas.openxmlformats.org/drawingml/2006/main">
              <a:ext uri="{FF2B5EF4-FFF2-40B4-BE49-F238E27FC236}">
                <a16:creationId xmlns:a16="http://schemas.microsoft.com/office/drawing/2014/main" id="{6732869C-64C0-4D12-AF63-289F4672F73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Selection and evaluation remained separate inside training data</a:t>
            </a:r>
          </a:p>
        </p:txBody>
      </p:sp>
      <p:cxnSp>
        <p:nvCxnSpPr>
          <p:cNvPr id="63"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B7C5D8"/>
            </a:solidFill>
            <a:prstDash val="solid"/>
          </a:ln>
        </p:spPr>
      </p:cxnSp>
      <p:sp>
        <p:nvSpPr>
          <p:cNvPr id="4" name="Google-Shape-2260-p159-5">
            <a:extLst xmlns:a="http://schemas.openxmlformats.org/drawingml/2006/main">
              <a:ext uri="{FF2B5EF4-FFF2-40B4-BE49-F238E27FC236}">
                <a16:creationId xmlns:a16="http://schemas.microsoft.com/office/drawing/2014/main" id="{2C05DB73-C07D-42DE-BD6F-C08C7A3E475D}"/>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Google-Shape-2261-p159-6">
            <a:extLst xmlns:a="http://schemas.openxmlformats.org/drawingml/2006/main">
              <a:ext uri="{FF2B5EF4-FFF2-40B4-BE49-F238E27FC236}">
                <a16:creationId xmlns:a16="http://schemas.microsoft.com/office/drawing/2014/main" id="{4A870986-826C-47F0-A9FA-EE59314EF330}"/>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Google-Shape-2262-p159-7">
            <a:extLst xmlns:a="http://schemas.openxmlformats.org/drawingml/2006/main">
              <a:ext uri="{FF2B5EF4-FFF2-40B4-BE49-F238E27FC236}">
                <a16:creationId xmlns:a16="http://schemas.microsoft.com/office/drawing/2014/main" id="{4DDDD852-4FFA-467C-A068-05C7C566DAF6}"/>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ntent-Placeholder-15-8">
            <a:extLst xmlns:a="http://schemas.openxmlformats.org/drawingml/2006/main">
              <a:ext uri="{FF2B5EF4-FFF2-40B4-BE49-F238E27FC236}">
                <a16:creationId xmlns:a16="http://schemas.microsoft.com/office/drawing/2014/main" id="{D75A66E0-140D-4745-9896-68235852059A}"/>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2563EB"/>
                </a:solidFill>
                <a:latin typeface="Helvetica Neue"/>
                <a:ea typeface="Helvetica Neue"/>
                <a:cs typeface="Helvetica Neue"/>
              </a:defRPr>
            </a:pPr>
            <a:r>
              <a:rPr sz="1600">
                <a:solidFill>
                  <a:srgbClr val="2563EB"/>
                </a:solidFill>
                <a:latin typeface="Helvetica Neue"/>
                <a:ea typeface="Helvetica Neue"/>
                <a:cs typeface="Helvetica Neue"/>
              </a:rPr>
              <a:t>TRAIN</a:t>
            </a:r>
          </a:p>
        </p:txBody>
      </p:sp>
      <p:sp>
        <p:nvSpPr>
          <p:cNvPr id="8" name="Content-Placeholder-15-9">
            <a:extLst xmlns:a="http://schemas.openxmlformats.org/drawingml/2006/main">
              <a:ext uri="{FF2B5EF4-FFF2-40B4-BE49-F238E27FC236}">
                <a16:creationId xmlns:a16="http://schemas.microsoft.com/office/drawing/2014/main" id="{5595F8D1-7653-4CE9-B930-06D24F866F12}"/>
              </a:ext>
            </a:extLst>
          </p:cNvPr>
          <p:cNvSpPr>
            <a:spLocks xmlns:a="http://schemas.openxmlformats.org/drawingml/2006/main" noGrp="1"/>
          </p:cNvSpPr>
          <p:nvPr/>
        </p:nvSpPr>
        <p:spPr>
          <a:xfrm xmlns:a="http://schemas.openxmlformats.org/drawingml/2006/main">
            <a:off x="4294156" y="2843308"/>
            <a:ext cx="2476500"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F59E0B"/>
                </a:solidFill>
                <a:latin typeface="Helvetica Neue"/>
                <a:ea typeface="Helvetica Neue"/>
                <a:cs typeface="Helvetica Neue"/>
              </a:defRPr>
            </a:pPr>
            <a:r>
              <a:rPr sz="1600">
                <a:solidFill>
                  <a:srgbClr val="F59E0B"/>
                </a:solidFill>
                <a:latin typeface="Helvetica Neue"/>
                <a:ea typeface="Helvetica Neue"/>
                <a:cs typeface="Helvetica Neue"/>
              </a:rPr>
              <a:t>INNER SELECTION</a:t>
            </a:r>
          </a:p>
        </p:txBody>
      </p:sp>
      <p:sp>
        <p:nvSpPr>
          <p:cNvPr id="9" name="Content-Placeholder-15-10">
            <a:extLst xmlns:a="http://schemas.openxmlformats.org/drawingml/2006/main">
              <a:ext uri="{FF2B5EF4-FFF2-40B4-BE49-F238E27FC236}">
                <a16:creationId xmlns:a16="http://schemas.microsoft.com/office/drawing/2014/main" id="{8D7B82F9-F06F-4FD9-8DB6-E1E5DC9A5265}"/>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DC2626"/>
                </a:solidFill>
                <a:latin typeface="Helvetica Neue"/>
                <a:ea typeface="Helvetica Neue"/>
                <a:cs typeface="Helvetica Neue"/>
              </a:defRPr>
            </a:pPr>
            <a:r>
              <a:rPr sz="1600">
                <a:solidFill>
                  <a:srgbClr val="DC2626"/>
                </a:solidFill>
                <a:latin typeface="Helvetica Neue"/>
                <a:ea typeface="Helvetica Neue"/>
                <a:cs typeface="Helvetica Neue"/>
              </a:rPr>
              <a:t>OUTER TEST</a:t>
            </a:r>
          </a:p>
        </p:txBody>
      </p:sp>
      <p:sp>
        <p:nvSpPr>
          <p:cNvPr id="10" name="Text-Placeholder-16-11">
            <a:extLst xmlns:a="http://schemas.openxmlformats.org/drawingml/2006/main">
              <a:ext uri="{FF2B5EF4-FFF2-40B4-BE49-F238E27FC236}">
                <a16:creationId xmlns:a16="http://schemas.microsoft.com/office/drawing/2014/main" id="{575599E1-869E-4BE6-BC03-E590BB166A1A}"/>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Select</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Choose the threshold inside inner folds without using outer-fold labels.</a:t>
            </a:r>
          </a:p>
        </p:txBody>
      </p:sp>
      <p:sp>
        <p:nvSpPr>
          <p:cNvPr id="11" name="Text-Placeholder-16-12">
            <a:extLst xmlns:a="http://schemas.openxmlformats.org/drawingml/2006/main">
              <a:ext uri="{FF2B5EF4-FFF2-40B4-BE49-F238E27FC236}">
                <a16:creationId xmlns:a16="http://schemas.microsoft.com/office/drawing/2014/main" id="{8A6CD39C-B2C4-4C6A-85DF-71DC105D83FC}"/>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Establish</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Fit TF–IDF and logistic regression on an outer-fold training subset.</a:t>
            </a:r>
          </a:p>
        </p:txBody>
      </p:sp>
      <p:sp>
        <p:nvSpPr>
          <p:cNvPr id="12" name="Text-Placeholder-16-13">
            <a:extLst xmlns:a="http://schemas.openxmlformats.org/drawingml/2006/main">
              <a:ext uri="{FF2B5EF4-FFF2-40B4-BE49-F238E27FC236}">
                <a16:creationId xmlns:a16="http://schemas.microsoft.com/office/drawing/2014/main" id="{7C2DA4A1-1ED0-4C22-B473-D9EFC75A302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Evaluate</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Score the held-out outer fold, combine predictions, then record the decision.</a:t>
            </a:r>
          </a:p>
        </p:txBody>
      </p:sp>
    </p:spTree>
    <p:extLst>
      <p:ext uri="{BB962C8B-B14F-4D97-AF65-F5344CB8AC3E}">
        <p14:creationId xmlns:p14="http://schemas.microsoft.com/office/powerpoint/2010/main" val="183775634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E339523B-6D5B-4093-80FD-4AF43CB2B108}"/>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EAF2FF"/>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Rounded-Rectangle-6-2">
            <a:extLst xmlns:a="http://schemas.openxmlformats.org/drawingml/2006/main">
              <a:ext uri="{FF2B5EF4-FFF2-40B4-BE49-F238E27FC236}">
                <a16:creationId xmlns:a16="http://schemas.microsoft.com/office/drawing/2014/main" id="{384EFEFE-37D5-4781-A715-44334D6B3F9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4F7FB"/>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Rounded-Rectangle-7-3">
            <a:extLst xmlns:a="http://schemas.openxmlformats.org/drawingml/2006/main">
              <a:ext uri="{FF2B5EF4-FFF2-40B4-BE49-F238E27FC236}">
                <a16:creationId xmlns:a16="http://schemas.microsoft.com/office/drawing/2014/main" id="{D1B9D51D-B950-43DB-8C9B-A44F6E435A75}"/>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FF4DD"/>
          </a:solidFill>
          <a:ln xmlns:a="http://schemas.openxmlformats.org/drawingml/2006/main" w="9525">
            <a:solidFill>
              <a:srgbClr val="F5D18A"/>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Slide-Number-Placeholder-1-4">
            <a:extLst xmlns:a="http://schemas.openxmlformats.org/drawingml/2006/main">
              <a:ext uri="{FF2B5EF4-FFF2-40B4-BE49-F238E27FC236}">
                <a16:creationId xmlns:a16="http://schemas.microsoft.com/office/drawing/2014/main" id="{42163C7E-1454-466F-B778-81FC8792955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6</a:t>
            </a:r>
          </a:p>
        </p:txBody>
      </p:sp>
      <p:sp>
        <p:nvSpPr>
          <p:cNvPr id="5" name="Title-2-5">
            <a:extLst xmlns:a="http://schemas.openxmlformats.org/drawingml/2006/main">
              <a:ext uri="{FF2B5EF4-FFF2-40B4-BE49-F238E27FC236}">
                <a16:creationId xmlns:a16="http://schemas.microsoft.com/office/drawing/2014/main" id="{485E5AA2-2812-4331-8DDC-22B36A92A42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Training gains did not establish reliable holdout performance</a:t>
            </a:r>
          </a:p>
        </p:txBody>
      </p:sp>
      <p:sp>
        <p:nvSpPr>
          <p:cNvPr id="6" name="Content-Placeholder-9-6">
            <a:extLst xmlns:a="http://schemas.openxmlformats.org/drawingml/2006/main">
              <a:ext uri="{FF2B5EF4-FFF2-40B4-BE49-F238E27FC236}">
                <a16:creationId xmlns:a16="http://schemas.microsoft.com/office/drawing/2014/main" id="{3FC6B0F3-558B-43D4-9132-6BF005E17BCB}"/>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Mean cross-validated urgent F1 increased from 6.7% to 11.4%.</a:t>
            </a:r>
          </a:p>
        </p:txBody>
      </p:sp>
      <p:sp>
        <p:nvSpPr>
          <p:cNvPr id="7" name="Content-Placeholder-10-7">
            <a:extLst xmlns:a="http://schemas.openxmlformats.org/drawingml/2006/main">
              <a:ext uri="{FF2B5EF4-FFF2-40B4-BE49-F238E27FC236}">
                <a16:creationId xmlns:a16="http://schemas.microsoft.com/office/drawing/2014/main" id="{C929FD5C-D913-4E65-855B-DA6D78AEC79A}"/>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TF–IDF features decreased from 4,097 to 2,895.</a:t>
            </a:r>
          </a:p>
        </p:txBody>
      </p:sp>
      <p:sp>
        <p:nvSpPr>
          <p:cNvPr id="8" name="Content-Placeholder-11-8">
            <a:extLst xmlns:a="http://schemas.openxmlformats.org/drawingml/2006/main">
              <a:ext uri="{FF2B5EF4-FFF2-40B4-BE49-F238E27FC236}">
                <a16:creationId xmlns:a16="http://schemas.microsoft.com/office/drawing/2014/main" id="{9884926F-5D3F-4EDD-9311-5C846336DB2D}"/>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Mean cross-validated urgent recall increased from 4.0% to 8.0%.</a:t>
            </a:r>
          </a:p>
        </p:txBody>
      </p:sp>
      <p:sp>
        <p:nvSpPr>
          <p:cNvPr id="9" name="Content-Placeholder-9-9">
            <a:extLst xmlns:a="http://schemas.openxmlformats.org/drawingml/2006/main">
              <a:ext uri="{FF2B5EF4-FFF2-40B4-BE49-F238E27FC236}">
                <a16:creationId xmlns:a16="http://schemas.microsoft.com/office/drawing/2014/main" id="{BD88F384-E88D-46C0-AAE3-B653B0F3C25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2563EB"/>
                </a:solidFill>
                <a:latin typeface="Helvetica Neue"/>
                <a:ea typeface="Helvetica Neue"/>
                <a:cs typeface="Helvetica Neue"/>
              </a:defRPr>
            </a:pPr>
            <a:r>
              <a:rPr sz="3750">
                <a:solidFill>
                  <a:srgbClr val="2563EB"/>
                </a:solidFill>
                <a:latin typeface="Helvetica Neue"/>
                <a:ea typeface="Helvetica Neue"/>
                <a:cs typeface="Helvetica Neue"/>
              </a:rPr>
              <a:t>+4.7 pts</a:t>
            </a:r>
          </a:p>
        </p:txBody>
      </p:sp>
      <p:sp>
        <p:nvSpPr>
          <p:cNvPr id="10" name="Content-Placeholder-9-10">
            <a:extLst xmlns:a="http://schemas.openxmlformats.org/drawingml/2006/main">
              <a:ext uri="{FF2B5EF4-FFF2-40B4-BE49-F238E27FC236}">
                <a16:creationId xmlns:a16="http://schemas.microsoft.com/office/drawing/2014/main" id="{7F74A129-E2A0-47F0-81F5-816FB9364D1F}"/>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B1F3A"/>
                </a:solidFill>
                <a:latin typeface="Helvetica Neue"/>
                <a:ea typeface="Helvetica Neue"/>
                <a:cs typeface="Helvetica Neue"/>
              </a:defRPr>
            </a:pPr>
            <a:r>
              <a:rPr sz="3750">
                <a:solidFill>
                  <a:srgbClr val="0B1F3A"/>
                </a:solidFill>
                <a:latin typeface="Helvetica Neue"/>
                <a:ea typeface="Helvetica Neue"/>
                <a:cs typeface="Helvetica Neue"/>
              </a:rPr>
              <a:t>2× recall</a:t>
            </a:r>
          </a:p>
        </p:txBody>
      </p:sp>
      <p:sp>
        <p:nvSpPr>
          <p:cNvPr id="11" name="Content-Placeholder-9-11">
            <a:extLst xmlns:a="http://schemas.openxmlformats.org/drawingml/2006/main">
              <a:ext uri="{FF2B5EF4-FFF2-40B4-BE49-F238E27FC236}">
                <a16:creationId xmlns:a16="http://schemas.microsoft.com/office/drawing/2014/main" id="{3E0B342E-0872-4D15-9385-5E7122DB4B4A}"/>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F59E0B"/>
                </a:solidFill>
                <a:latin typeface="Helvetica Neue"/>
                <a:ea typeface="Helvetica Neue"/>
                <a:cs typeface="Helvetica Neue"/>
              </a:defRPr>
            </a:pPr>
            <a:r>
              <a:rPr sz="3750">
                <a:solidFill>
                  <a:srgbClr val="F59E0B"/>
                </a:solidFill>
                <a:latin typeface="Helvetica Neue"/>
                <a:ea typeface="Helvetica Neue"/>
                <a:cs typeface="Helvetica Neue"/>
              </a:rPr>
              <a:t>−29%</a:t>
            </a:r>
          </a:p>
        </p:txBody>
      </p:sp>
      <p:sp>
        <p:nvSpPr>
          <p:cNvPr id="12" name="Content-Placeholder-15-12">
            <a:extLst xmlns:a="http://schemas.openxmlformats.org/drawingml/2006/main">
              <a:ext uri="{FF2B5EF4-FFF2-40B4-BE49-F238E27FC236}">
                <a16:creationId xmlns:a16="http://schemas.microsoft.com/office/drawing/2014/main" id="{C7523A79-B90A-4868-9A16-ACA667AF6A2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172033"/>
                </a:solidFill>
                <a:latin typeface="Helvetica Neue"/>
                <a:ea typeface="Helvetica Neue"/>
                <a:cs typeface="Helvetica Neue"/>
              </a:defRPr>
            </a:pPr>
            <a:r>
              <a:rPr sz="1800">
                <a:solidFill>
                  <a:srgbClr val="172033"/>
                </a:solidFill>
                <a:latin typeface="Helvetica Neue"/>
                <a:ea typeface="Helvetica Neue"/>
                <a:cs typeface="Helvetica Neue"/>
              </a:rPr>
              <a:t>Training and holdout context</a:t>
            </a:r>
          </a:p>
          <a:p xmlns:a="http://schemas.openxmlformats.org/drawingml/2006/main">
            <a:pPr algn="l">
              <a:lnSpc>
                <a:spcPct val="100000"/>
              </a:lnSpc>
              <a:buNone/>
              <a:defRPr sz="16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Training CV improved; the preliminary holdout repeated the 0.45/0.50 tradeoff.</a:t>
            </a:r>
          </a:p>
        </p:txBody>
      </p:sp>
    </p:spTree>
    <p:extLst>
      <p:ext uri="{BB962C8B-B14F-4D97-AF65-F5344CB8AC3E}">
        <p14:creationId xmlns:p14="http://schemas.microsoft.com/office/powerpoint/2010/main" val="64743866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71DA720B-29A7-45E8-9299-6EC2E95B3C4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7</a:t>
            </a:r>
          </a:p>
        </p:txBody>
      </p:sp>
      <p:sp>
        <p:nvSpPr>
          <p:cNvPr id="2" name="Google-Shape-533-p58-3">
            <a:extLst xmlns:a="http://schemas.openxmlformats.org/drawingml/2006/main">
              <a:ext uri="{FF2B5EF4-FFF2-40B4-BE49-F238E27FC236}">
                <a16:creationId xmlns:a16="http://schemas.microsoft.com/office/drawing/2014/main" id="{1E72C13E-FF8E-4857-B19E-5F992689DF2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Threshold testing exposed the reliability problem</a:t>
            </a:r>
          </a:p>
        </p:txBody>
      </p:sp>
      <p:sp>
        <p:nvSpPr>
          <p:cNvPr id="3" name="Picture-3-4-backing">
            <a:extLst xmlns:a="http://schemas.openxmlformats.org/drawingml/2006/main">
              <a:ext uri="{FF2B5EF4-FFF2-40B4-BE49-F238E27FC236}">
                <a16:creationId xmlns:a16="http://schemas.microsoft.com/office/drawing/2014/main" id="{67571DDF-74B9-425E-8E40-8C3ADC7A0660}"/>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F4F7FB"/>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Google-Shape-534-p58-5">
            <a:extLst xmlns:a="http://schemas.openxmlformats.org/drawingml/2006/main">
              <a:ext uri="{FF2B5EF4-FFF2-40B4-BE49-F238E27FC236}">
                <a16:creationId xmlns:a16="http://schemas.microsoft.com/office/drawing/2014/main" id="{0CB3C199-FCD4-4BF4-82DA-0EE618D90B85}"/>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buNone/>
              <a:defRPr>
                <a:solidFill>
                  <a:srgbClr val="172033"/>
                </a:solidFill>
              </a:defRPr>
            </a:pPr>
            <a:r>
              <a:rPr sz="2400">
                <a:solidFill>
                  <a:srgbClr val="172033"/>
                </a:solidFill>
                <a:latin typeface="Helvetica Neue"/>
                <a:ea typeface="Helvetica Neue"/>
                <a:cs typeface="Helvetica Neue"/>
              </a:rPr>
              <a:t>0.45 threshold</a:t>
            </a:r>
          </a:p>
          <a:p xmlns:a="http://schemas.openxmlformats.org/drawingml/2006/main">
            <a:pPr>
              <a:buNone/>
              <a:defRPr>
                <a:solidFill>
                  <a:srgbClr val="172033"/>
                </a:solidFill>
              </a:defRPr>
            </a:pPr>
            <a:r>
              <a:rPr sz="1600">
                <a:solidFill>
                  <a:srgbClr val="172033"/>
                </a:solidFill>
                <a:latin typeface="Helvetica Neue"/>
                <a:ea typeface="Helvetica Neue"/>
                <a:cs typeface="Helvetica Neue"/>
              </a:rPr>
              <a:t>100% urgent recall
26.2% urgent F1
135 false positives</a:t>
            </a:r>
          </a:p>
          <a:p xmlns:a="http://schemas.openxmlformats.org/drawingml/2006/main">
            <a:pPr>
              <a:buNone/>
              <a:defRPr>
                <a:solidFill>
                  <a:srgbClr val="172033"/>
                </a:solidFill>
              </a:defRPr>
            </a:pPr>
            <a:r>
              <a:rPr sz="750">
                <a:solidFill>
                  <a:srgbClr val="172033"/>
                </a:solidFill>
                <a:latin typeface="Helvetica Neue"/>
                <a:ea typeface="Helvetica Neue"/>
                <a:cs typeface="Helvetica Neue"/>
              </a:rPr>
              <a:t> </a:t>
            </a:r>
          </a:p>
          <a:p xmlns:a="http://schemas.openxmlformats.org/drawingml/2006/main">
            <a:pPr>
              <a:buNone/>
              <a:defRPr>
                <a:solidFill>
                  <a:srgbClr val="172033"/>
                </a:solidFill>
              </a:defRPr>
            </a:pPr>
            <a:r>
              <a:rPr sz="1600">
                <a:solidFill>
                  <a:srgbClr val="172033"/>
                </a:solidFill>
                <a:latin typeface="Helvetica Neue"/>
                <a:ea typeface="Helvetica Neue"/>
                <a:cs typeface="Helvetica Neue"/>
              </a:rPr>
              <a:t>Every training message was labeled urgent.</a:t>
            </a:r>
          </a:p>
          <a:p xmlns:a="http://schemas.openxmlformats.org/drawingml/2006/main">
            <a:pPr>
              <a:buNone/>
              <a:defRPr>
                <a:solidFill>
                  <a:srgbClr val="172033"/>
                </a:solidFill>
              </a:defRPr>
            </a:pPr>
            <a:r>
              <a:rPr sz="750">
                <a:solidFill>
                  <a:srgbClr val="172033"/>
                </a:solidFill>
                <a:latin typeface="Helvetica Neue"/>
                <a:ea typeface="Helvetica Neue"/>
                <a:cs typeface="Helvetica Neue"/>
              </a:rPr>
              <a:t> </a:t>
            </a:r>
          </a:p>
          <a:p xmlns:a="http://schemas.openxmlformats.org/drawingml/2006/main">
            <a:pPr>
              <a:buNone/>
              <a:defRPr>
                <a:solidFill>
                  <a:srgbClr val="172033"/>
                </a:solidFill>
              </a:defRPr>
            </a:pPr>
            <a:r>
              <a:rPr sz="2400">
                <a:solidFill>
                  <a:srgbClr val="172033"/>
                </a:solidFill>
                <a:latin typeface="Helvetica Neue"/>
                <a:ea typeface="Helvetica Neue"/>
                <a:cs typeface="Helvetica Neue"/>
              </a:rPr>
              <a:t>0.50 threshold</a:t>
            </a:r>
          </a:p>
          <a:p xmlns:a="http://schemas.openxmlformats.org/drawingml/2006/main">
            <a:pPr>
              <a:buNone/>
              <a:defRPr>
                <a:solidFill>
                  <a:srgbClr val="172033"/>
                </a:solidFill>
              </a:defRPr>
            </a:pPr>
            <a:r>
              <a:rPr sz="1600">
                <a:solidFill>
                  <a:srgbClr val="172033"/>
                </a:solidFill>
                <a:latin typeface="Helvetica Neue"/>
                <a:ea typeface="Helvetica Neue"/>
                <a:cs typeface="Helvetica Neue"/>
              </a:rPr>
              <a:t>8.3% urgent recall
15.4% urgent F1
22 false negatives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61b4209f8ba34a44"/>
          <a:stretch xmlns:a="http://schemas.openxmlformats.org/drawingml/2006/main"/>
        </p:blipFill>
        <p:spPr>
          <a:xfrm xmlns:a="http://schemas.openxmlformats.org/drawingml/2006/main">
            <a:off x="6305550" y="2313190"/>
            <a:ext cx="5410200" cy="2564995"/>
          </a:xfrm>
          <a:prstGeom xmlns:a="http://schemas.openxmlformats.org/drawingml/2006/main" prst="rect">
            <a:avLst/>
          </a:prstGeom>
        </p:spPr>
      </p:pic>
      <p:sp>
        <p:nvSpPr>
          <p:cNvPr id="7" name="slide-6-title-backing">
            <a:extLst xmlns:a="http://schemas.openxmlformats.org/drawingml/2006/main">
              <a:ext uri="{FF2B5EF4-FFF2-40B4-BE49-F238E27FC236}">
                <a16:creationId xmlns:a16="http://schemas.microsoft.com/office/drawing/2014/main" id="{3826250A-6A07-4D8D-8A5D-B82EDD95B8C5}"/>
              </a:ext>
            </a:extLst>
          </p:cNvPr>
          <p:cNvSpPr>
            <a:spLocks xmlns:a="http://schemas.openxmlformats.org/drawingml/2006/main" noGrp="1"/>
          </p:cNvSpPr>
          <p:nvPr/>
        </p:nvSpPr>
        <p:spPr>
          <a:xfrm xmlns:a="http://schemas.openxmlformats.org/drawingml/2006/main">
            <a:off x="0" y="0"/>
            <a:ext cx="12192000"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lide-6-title">
            <a:extLst xmlns:a="http://schemas.openxmlformats.org/drawingml/2006/main">
              <a:ext uri="{FF2B5EF4-FFF2-40B4-BE49-F238E27FC236}">
                <a16:creationId xmlns:a16="http://schemas.microsoft.com/office/drawing/2014/main" id="{DB4315B5-879B-42E1-A963-86483014493D}"/>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Threshold testing exposed the reliability problem</a:t>
            </a:r>
          </a:p>
        </p:txBody>
      </p:sp>
    </p:spTree>
    <p:extLst>
      <p:ext uri="{BB962C8B-B14F-4D97-AF65-F5344CB8AC3E}">
        <p14:creationId xmlns:p14="http://schemas.microsoft.com/office/powerpoint/2010/main" val="7197045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D7AFE404-929B-4FD7-AEFB-6485D21F2A1B}"/>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EAF2FF"/>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Rounded-Rectangle-6-2">
            <a:extLst xmlns:a="http://schemas.openxmlformats.org/drawingml/2006/main">
              <a:ext uri="{FF2B5EF4-FFF2-40B4-BE49-F238E27FC236}">
                <a16:creationId xmlns:a16="http://schemas.microsoft.com/office/drawing/2014/main" id="{5A47A26D-BE18-46B5-AB2C-1FA67CE0D98E}"/>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4F7FB"/>
          </a:solidFill>
          <a:ln xmlns:a="http://schemas.openxmlformats.org/drawingml/2006/main" w="9525">
            <a:solidFill>
              <a:srgbClr val="B7C5D8"/>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Rounded-Rectangle-7-3">
            <a:extLst xmlns:a="http://schemas.openxmlformats.org/drawingml/2006/main">
              <a:ext uri="{FF2B5EF4-FFF2-40B4-BE49-F238E27FC236}">
                <a16:creationId xmlns:a16="http://schemas.microsoft.com/office/drawing/2014/main" id="{BF04191B-E7C4-4689-9069-62D2EA5D1A59}"/>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DEBEC"/>
          </a:solidFill>
          <a:ln xmlns:a="http://schemas.openxmlformats.org/drawingml/2006/main" w="9525">
            <a:solidFill>
              <a:srgbClr val="F4B7BC"/>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Slide-Number-Placeholder-1-4">
            <a:extLst xmlns:a="http://schemas.openxmlformats.org/drawingml/2006/main">
              <a:ext uri="{FF2B5EF4-FFF2-40B4-BE49-F238E27FC236}">
                <a16:creationId xmlns:a16="http://schemas.microsoft.com/office/drawing/2014/main" id="{BDE59CBE-9F83-459F-B64D-15AF56F6A0F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8</a:t>
            </a:r>
          </a:p>
        </p:txBody>
      </p:sp>
      <p:sp>
        <p:nvSpPr>
          <p:cNvPr id="5" name="Title-2-5">
            <a:extLst xmlns:a="http://schemas.openxmlformats.org/drawingml/2006/main">
              <a:ext uri="{FF2B5EF4-FFF2-40B4-BE49-F238E27FC236}">
                <a16:creationId xmlns:a16="http://schemas.microsoft.com/office/drawing/2014/main" id="{8E437F1F-C917-4A84-A4D4-B3C3BB98886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Software validation prepared the interface for Week 8</a:t>
            </a:r>
          </a:p>
        </p:txBody>
      </p:sp>
      <p:sp>
        <p:nvSpPr>
          <p:cNvPr id="6" name="Content-Placeholder-9-6">
            <a:extLst xmlns:a="http://schemas.openxmlformats.org/drawingml/2006/main">
              <a:ext uri="{FF2B5EF4-FFF2-40B4-BE49-F238E27FC236}">
                <a16:creationId xmlns:a16="http://schemas.microsoft.com/office/drawing/2014/main" id="{4C2B64E7-14F1-44FD-8B67-F56FD152E31B}"/>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Automated tests covering API behavior, evidence integrity, and safe failure.</a:t>
            </a:r>
          </a:p>
        </p:txBody>
      </p:sp>
      <p:sp>
        <p:nvSpPr>
          <p:cNvPr id="7" name="Content-Placeholder-10-7">
            <a:extLst xmlns:a="http://schemas.openxmlformats.org/drawingml/2006/main">
              <a:ext uri="{FF2B5EF4-FFF2-40B4-BE49-F238E27FC236}">
                <a16:creationId xmlns:a16="http://schemas.microsoft.com/office/drawing/2014/main" id="{D958F9CD-22D6-4C59-88ED-49E9ADED1FEB}"/>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Gate A checks for boundary, determinism, non-retention, thresholds, and explanations.</a:t>
            </a:r>
          </a:p>
        </p:txBody>
      </p:sp>
      <p:sp>
        <p:nvSpPr>
          <p:cNvPr id="8" name="Content-Placeholder-11-8">
            <a:extLst xmlns:a="http://schemas.openxmlformats.org/drawingml/2006/main">
              <a:ext uri="{FF2B5EF4-FFF2-40B4-BE49-F238E27FC236}">
                <a16:creationId xmlns:a16="http://schemas.microsoft.com/office/drawing/2014/main" id="{9FBD14D4-48D8-41A4-8E20-84A6C9FACE7B}"/>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526179"/>
                </a:solidFill>
                <a:latin typeface="Helvetica Neue"/>
                <a:ea typeface="Helvetica Neue"/>
                <a:cs typeface="Helvetica Neue"/>
              </a:defRPr>
            </a:pPr>
            <a:r>
              <a:rPr sz="1600">
                <a:solidFill>
                  <a:srgbClr val="526179"/>
                </a:solidFill>
                <a:latin typeface="Helvetica Neue"/>
                <a:ea typeface="Helvetica Neue"/>
                <a:cs typeface="Helvetica Neue"/>
              </a:rPr>
              <a:t>Synthetic inferences: three cases repeated 20 times with identical scores.</a:t>
            </a:r>
          </a:p>
        </p:txBody>
      </p:sp>
      <p:sp>
        <p:nvSpPr>
          <p:cNvPr id="9" name="Content-Placeholder-9-9">
            <a:extLst xmlns:a="http://schemas.openxmlformats.org/drawingml/2006/main">
              <a:ext uri="{FF2B5EF4-FFF2-40B4-BE49-F238E27FC236}">
                <a16:creationId xmlns:a16="http://schemas.microsoft.com/office/drawing/2014/main" id="{E7EB0677-F6A4-4C8C-BE0C-731A862EE9E2}"/>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2563EB"/>
                </a:solidFill>
                <a:latin typeface="Helvetica Neue"/>
                <a:ea typeface="Helvetica Neue"/>
                <a:cs typeface="Helvetica Neue"/>
              </a:defRPr>
            </a:pPr>
            <a:r>
              <a:rPr sz="4200">
                <a:solidFill>
                  <a:srgbClr val="2563EB"/>
                </a:solidFill>
                <a:latin typeface="Helvetica Neue"/>
                <a:ea typeface="Helvetica Neue"/>
                <a:cs typeface="Helvetica Neue"/>
              </a:rPr>
              <a:t>13</a:t>
            </a:r>
          </a:p>
        </p:txBody>
      </p:sp>
      <p:sp>
        <p:nvSpPr>
          <p:cNvPr id="10" name="Content-Placeholder-9-10">
            <a:extLst xmlns:a="http://schemas.openxmlformats.org/drawingml/2006/main">
              <a:ext uri="{FF2B5EF4-FFF2-40B4-BE49-F238E27FC236}">
                <a16:creationId xmlns:a16="http://schemas.microsoft.com/office/drawing/2014/main" id="{EA9D8539-2C7E-48EE-8853-D9A2109B76A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0B1F3A"/>
                </a:solidFill>
                <a:latin typeface="Helvetica Neue"/>
                <a:ea typeface="Helvetica Neue"/>
                <a:cs typeface="Helvetica Neue"/>
              </a:defRPr>
            </a:pPr>
            <a:r>
              <a:rPr sz="4200">
                <a:solidFill>
                  <a:srgbClr val="0B1F3A"/>
                </a:solidFill>
                <a:latin typeface="Helvetica Neue"/>
                <a:ea typeface="Helvetica Neue"/>
                <a:cs typeface="Helvetica Neue"/>
              </a:rPr>
              <a:t>60</a:t>
            </a:r>
          </a:p>
        </p:txBody>
      </p:sp>
      <p:sp>
        <p:nvSpPr>
          <p:cNvPr id="11" name="Content-Placeholder-9-11">
            <a:extLst xmlns:a="http://schemas.openxmlformats.org/drawingml/2006/main">
              <a:ext uri="{FF2B5EF4-FFF2-40B4-BE49-F238E27FC236}">
                <a16:creationId xmlns:a16="http://schemas.microsoft.com/office/drawing/2014/main" id="{4FFCC006-489C-428F-AD62-5C14EB7C8950}"/>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0000"/>
              </a:lnSpc>
              <a:buNone/>
              <a:defRPr sz="2400">
                <a:solidFill>
                  <a:srgbClr val="DC2626"/>
                </a:solidFill>
                <a:latin typeface="Helvetica Neue"/>
                <a:ea typeface="Helvetica Neue"/>
                <a:cs typeface="Helvetica Neue"/>
              </a:defRPr>
            </a:pPr>
            <a:r>
              <a:rPr sz="4200">
                <a:solidFill>
                  <a:srgbClr val="DC2626"/>
                </a:solidFill>
                <a:latin typeface="Helvetica Neue"/>
                <a:ea typeface="Helvetica Neue"/>
                <a:cs typeface="Helvetica Neue"/>
              </a:rPr>
              <a:t>5</a:t>
            </a:r>
          </a:p>
        </p:txBody>
      </p:sp>
      <p:sp>
        <p:nvSpPr>
          <p:cNvPr id="12" name="Content-Placeholder-15-12">
            <a:extLst xmlns:a="http://schemas.openxmlformats.org/drawingml/2006/main">
              <a:ext uri="{FF2B5EF4-FFF2-40B4-BE49-F238E27FC236}">
                <a16:creationId xmlns:a16="http://schemas.microsoft.com/office/drawing/2014/main" id="{356E08A9-FE7E-4A9F-8004-1CBEDD760C02}"/>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172033"/>
                </a:solidFill>
                <a:latin typeface="Helvetica Neue"/>
                <a:ea typeface="Helvetica Neue"/>
                <a:cs typeface="Helvetica Neue"/>
              </a:defRPr>
            </a:pPr>
            <a:r>
              <a:rPr sz="1800">
                <a:solidFill>
                  <a:srgbClr val="172033"/>
                </a:solidFill>
                <a:latin typeface="Helvetica Neue"/>
                <a:ea typeface="Helvetica Neue"/>
                <a:cs typeface="Helvetica Neue"/>
              </a:rPr>
              <a:t>Engineering scope</a:t>
            </a:r>
          </a:p>
          <a:p xmlns:a="http://schemas.openxmlformats.org/drawingml/2006/main">
            <a:pPr algn="l">
              <a:lnSpc>
                <a:spcPct val="100000"/>
              </a:lnSpc>
              <a:buNone/>
              <a:defRPr sz="16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Functional repeatability was tested separately from predictive reliability.</a:t>
            </a:r>
          </a:p>
        </p:txBody>
      </p:sp>
    </p:spTree>
    <p:extLst>
      <p:ext uri="{BB962C8B-B14F-4D97-AF65-F5344CB8AC3E}">
        <p14:creationId xmlns:p14="http://schemas.microsoft.com/office/powerpoint/2010/main" val="1123941045"/>
      </p:ext>
    </p:extLst>
  </p:cSld>
</p:sld>
</file>

<file path=ppt/slides/slide9.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6F593566-D0FB-44F5-9636-91DABAC50F74}"/>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FFFFFF"/>
                </a:solidFill>
                <a:latin typeface="Helvetica Neue"/>
                <a:ea typeface="Helvetica Neue"/>
                <a:cs typeface="Helvetica Neue"/>
              </a:defRPr>
            </a:pPr>
            <a:r>
              <a:rPr sz="6000">
                <a:solidFill>
                  <a:srgbClr val="FFFFFF"/>
                </a:solidFill>
                <a:latin typeface="Helvetica Neue"/>
                <a:ea typeface="Helvetica Neue"/>
                <a:cs typeface="Helvetica Neue"/>
              </a:rPr>
              <a:t>Software passed its check; the model still needs revision</a:t>
            </a:r>
          </a:p>
        </p:txBody>
      </p:sp>
      <p:sp>
        <p:nvSpPr>
          <p:cNvPr id="2" name="Subtitle-4-2">
            <a:extLst xmlns:a="http://schemas.openxmlformats.org/drawingml/2006/main">
              <a:ext uri="{FF2B5EF4-FFF2-40B4-BE49-F238E27FC236}">
                <a16:creationId xmlns:a16="http://schemas.microsoft.com/office/drawing/2014/main" id="{D6844EA8-4A25-420E-943F-53E44678AE1F}"/>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DCE6F5"/>
                </a:solidFill>
                <a:latin typeface="Helvetica Neue"/>
                <a:ea typeface="Helvetica Neue"/>
                <a:cs typeface="Helvetica Neue"/>
              </a:defRPr>
            </a:pPr>
            <a:r>
              <a:rPr sz="2000">
                <a:solidFill>
                  <a:srgbClr val="DCE6F5"/>
                </a:solidFill>
                <a:latin typeface="Helvetica Neue"/>
                <a:ea typeface="Helvetica Neue"/>
                <a:cs typeface="Helvetica Neue"/>
              </a:rPr>
              <a:t>Engineering check passed</a:t>
            </a:r>
          </a:p>
          <a:p xmlns:a="http://schemas.openxmlformats.org/drawingml/2006/main">
            <a:pPr algn="l">
              <a:lnSpc>
                <a:spcPct val="100000"/>
              </a:lnSpc>
              <a:buNone/>
              <a:defRPr sz="2400">
                <a:solidFill>
                  <a:srgbClr val="DCE6F5"/>
                </a:solidFill>
                <a:latin typeface="Helvetica Neue"/>
                <a:ea typeface="Helvetica Neue"/>
                <a:cs typeface="Helvetica Neue"/>
              </a:defRPr>
            </a:pPr>
            <a:r>
              <a:rPr sz="2000">
                <a:solidFill>
                  <a:srgbClr val="DCE6F5"/>
                </a:solidFill>
                <a:latin typeface="Helvetica Neue"/>
                <a:ea typeface="Helvetica Neue"/>
                <a:cs typeface="Helvetica Neue"/>
              </a:rPr>
              <a:t>Model disposition: revise</a:t>
            </a:r>
          </a:p>
          <a:p xmlns:a="http://schemas.openxmlformats.org/drawingml/2006/main">
            <a:pPr algn="l">
              <a:lnSpc>
                <a:spcPct val="100000"/>
              </a:lnSpc>
              <a:buNone/>
              <a:defRPr sz="2400">
                <a:solidFill>
                  <a:srgbClr val="DCE6F5"/>
                </a:solidFill>
                <a:latin typeface="Helvetica Neue"/>
                <a:ea typeface="Helvetica Neue"/>
                <a:cs typeface="Helvetica Neue"/>
              </a:defRPr>
            </a:pPr>
            <a:r>
              <a:rPr sz="2000">
                <a:solidFill>
                  <a:srgbClr val="DCE6F5"/>
                </a:solidFill>
                <a:latin typeface="Helvetica Neue"/>
                <a:ea typeface="Helvetica Neue"/>
                <a:cs typeface="Helvetica Neue"/>
              </a:rPr>
              <a:t>Human review required</a:t>
            </a:r>
          </a:p>
          <a:p xmlns:a="http://schemas.openxmlformats.org/drawingml/2006/main">
            <a:pPr algn="l">
              <a:lnSpc>
                <a:spcPct val="100000"/>
              </a:lnSpc>
              <a:buNone/>
              <a:defRPr sz="2400">
                <a:solidFill>
                  <a:srgbClr val="DCE6F5"/>
                </a:solidFill>
                <a:latin typeface="Helvetica Neue"/>
                <a:ea typeface="Helvetica Neue"/>
                <a:cs typeface="Helvetica Neue"/>
              </a:defRPr>
            </a:pPr>
            <a:r>
              <a:rPr sz="2000">
                <a:solidFill>
                  <a:srgbClr val="DCE6F5"/>
                </a:solidFill>
                <a:latin typeface="Helvetica Neue"/>
                <a:ea typeface="Helvetica Neue"/>
                <a:cs typeface="Helvetica Neue"/>
              </a:rPr>
              <a:t>No shadow or production approval</a:t>
            </a:r>
          </a:p>
        </p:txBody>
      </p:sp>
      <p:sp>
        <p:nvSpPr>
          <p:cNvPr id="3" name="Subtitle-4-3">
            <a:extLst xmlns:a="http://schemas.openxmlformats.org/drawingml/2006/main">
              <a:ext uri="{FF2B5EF4-FFF2-40B4-BE49-F238E27FC236}">
                <a16:creationId xmlns:a16="http://schemas.microsoft.com/office/drawing/2014/main" id="{63836657-A5AE-4EE1-8C79-8739FDB4745C}"/>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F59E0B"/>
                </a:solidFill>
                <a:latin typeface="Helvetica Neue"/>
                <a:ea typeface="Helvetica Neue"/>
                <a:cs typeface="Helvetica Neue"/>
              </a:defRPr>
            </a:pPr>
            <a:r>
              <a:rPr sz="1500">
                <a:solidFill>
                  <a:srgbClr val="F59E0B"/>
                </a:solidFill>
                <a:latin typeface="Helvetica Neue"/>
                <a:ea typeface="Helvetica Neue"/>
                <a:cs typeface="Helvetica Neue"/>
              </a:rPr>
              <a:t>DISPOSITION</a:t>
            </a:r>
          </a:p>
        </p:txBody>
      </p:sp>
    </p:spTree>
    <p:extLst>
      <p:ext uri="{BB962C8B-B14F-4D97-AF65-F5344CB8AC3E}">
        <p14:creationId xmlns:p14="http://schemas.microsoft.com/office/powerpoint/2010/main" val="92988125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C75B26AE-BE3D-4D9E-973B-F37CCDAB80B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526179"/>
                </a:solidFill>
                <a:latin typeface="Helvetica Neue"/>
                <a:ea typeface="Helvetica Neue"/>
                <a:cs typeface="Helvetica Neue"/>
              </a:defRPr>
            </a:pPr>
            <a:r>
              <a:rPr sz="1000">
                <a:solidFill>
                  <a:srgbClr val="526179"/>
                </a:solidFill>
                <a:latin typeface="Helvetica Neue"/>
                <a:ea typeface="Helvetica Neue"/>
                <a:cs typeface="Helvetica Neue"/>
              </a:rPr>
              <a:t>10</a:t>
            </a:r>
          </a:p>
        </p:txBody>
      </p:sp>
      <p:sp>
        <p:nvSpPr>
          <p:cNvPr id="2" name="Title-10-3">
            <a:extLst xmlns:a="http://schemas.openxmlformats.org/drawingml/2006/main">
              <a:ext uri="{FF2B5EF4-FFF2-40B4-BE49-F238E27FC236}">
                <a16:creationId xmlns:a16="http://schemas.microsoft.com/office/drawing/2014/main" id="{E8AEE3C0-019A-438A-947D-35A823DB424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900">
                <a:solidFill>
                  <a:srgbClr val="0B1F3A"/>
                </a:solidFill>
                <a:latin typeface="Helvetica Neue"/>
                <a:ea typeface="Helvetica Neue"/>
                <a:cs typeface="Helvetica Neue"/>
              </a:defRPr>
            </a:pPr>
            <a:r>
              <a:rPr sz="2900">
                <a:solidFill>
                  <a:srgbClr val="0B1F3A"/>
                </a:solidFill>
                <a:latin typeface="Helvetica Neue"/>
                <a:ea typeface="Helvetica Neue"/>
                <a:cs typeface="Helvetica Neue"/>
              </a:rPr>
              <a:t>Week 8 should demonstrate the workflow—not overstate the model</a:t>
            </a:r>
          </a:p>
        </p:txBody>
      </p:sp>
      <p:cxnSp>
        <p:nvCxnSpPr>
          <p:cNvPr id="63"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B7C5D8"/>
            </a:solidFill>
            <a:prstDash val="solid"/>
          </a:ln>
        </p:spPr>
      </p:cxnSp>
      <p:sp>
        <p:nvSpPr>
          <p:cNvPr id="4" name="Google-Shape-2260-p159-5">
            <a:extLst xmlns:a="http://schemas.openxmlformats.org/drawingml/2006/main">
              <a:ext uri="{FF2B5EF4-FFF2-40B4-BE49-F238E27FC236}">
                <a16:creationId xmlns:a16="http://schemas.microsoft.com/office/drawing/2014/main" id="{71815DF6-9448-40C3-B394-EEAEF4C04FE5}"/>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Google-Shape-2261-p159-6">
            <a:extLst xmlns:a="http://schemas.openxmlformats.org/drawingml/2006/main">
              <a:ext uri="{FF2B5EF4-FFF2-40B4-BE49-F238E27FC236}">
                <a16:creationId xmlns:a16="http://schemas.microsoft.com/office/drawing/2014/main" id="{CD4D73DF-9310-4CD7-A035-4052762B544E}"/>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F59E0B"/>
          </a:solidFill>
          <a:ln xmlns:a="http://schemas.openxmlformats.org/drawingml/2006/main" w="9525">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Google-Shape-2262-p159-7">
            <a:extLst xmlns:a="http://schemas.openxmlformats.org/drawingml/2006/main">
              <a:ext uri="{FF2B5EF4-FFF2-40B4-BE49-F238E27FC236}">
                <a16:creationId xmlns:a16="http://schemas.microsoft.com/office/drawing/2014/main" id="{AADA14F8-AB65-41DD-BB6F-508A43FF800D}"/>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ntent-Placeholder-15-8">
            <a:extLst xmlns:a="http://schemas.openxmlformats.org/drawingml/2006/main">
              <a:ext uri="{FF2B5EF4-FFF2-40B4-BE49-F238E27FC236}">
                <a16:creationId xmlns:a16="http://schemas.microsoft.com/office/drawing/2014/main" id="{869945BB-FF55-4AC2-84B4-66EC4F12D914}"/>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2563EB"/>
                </a:solidFill>
                <a:latin typeface="Helvetica Neue"/>
                <a:ea typeface="Helvetica Neue"/>
                <a:cs typeface="Helvetica Neue"/>
              </a:defRPr>
            </a:pPr>
            <a:r>
              <a:rPr sz="1600">
                <a:solidFill>
                  <a:srgbClr val="2563EB"/>
                </a:solidFill>
                <a:latin typeface="Helvetica Neue"/>
                <a:ea typeface="Helvetica Neue"/>
                <a:cs typeface="Helvetica Neue"/>
              </a:rPr>
              <a:t>DEMONSTRATE</a:t>
            </a:r>
          </a:p>
        </p:txBody>
      </p:sp>
      <p:sp>
        <p:nvSpPr>
          <p:cNvPr id="8" name="Content-Placeholder-15-9">
            <a:extLst xmlns:a="http://schemas.openxmlformats.org/drawingml/2006/main">
              <a:ext uri="{FF2B5EF4-FFF2-40B4-BE49-F238E27FC236}">
                <a16:creationId xmlns:a16="http://schemas.microsoft.com/office/drawing/2014/main" id="{AFE22B73-DA52-4FB6-A6DB-2088EDE32476}"/>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F59E0B"/>
                </a:solidFill>
                <a:latin typeface="Helvetica Neue"/>
                <a:ea typeface="Helvetica Neue"/>
                <a:cs typeface="Helvetica Neue"/>
              </a:defRPr>
            </a:pPr>
            <a:r>
              <a:rPr sz="1600">
                <a:solidFill>
                  <a:srgbClr val="F59E0B"/>
                </a:solidFill>
                <a:latin typeface="Helvetica Neue"/>
                <a:ea typeface="Helvetica Neue"/>
                <a:cs typeface="Helvetica Neue"/>
              </a:rPr>
              <a:t>IMPROVE</a:t>
            </a:r>
          </a:p>
        </p:txBody>
      </p:sp>
      <p:sp>
        <p:nvSpPr>
          <p:cNvPr id="9" name="Content-Placeholder-15-10">
            <a:extLst xmlns:a="http://schemas.openxmlformats.org/drawingml/2006/main">
              <a:ext uri="{FF2B5EF4-FFF2-40B4-BE49-F238E27FC236}">
                <a16:creationId xmlns:a16="http://schemas.microsoft.com/office/drawing/2014/main" id="{51AA3049-4650-4DA2-8B19-1F0E5F796468}"/>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DC2626"/>
                </a:solidFill>
                <a:latin typeface="Helvetica Neue"/>
                <a:ea typeface="Helvetica Neue"/>
                <a:cs typeface="Helvetica Neue"/>
              </a:defRPr>
            </a:pPr>
            <a:r>
              <a:rPr sz="1600">
                <a:solidFill>
                  <a:srgbClr val="DC2626"/>
                </a:solidFill>
                <a:latin typeface="Helvetica Neue"/>
                <a:ea typeface="Helvetica Neue"/>
                <a:cs typeface="Helvetica Neue"/>
              </a:rPr>
              <a:t>REASSESS</a:t>
            </a:r>
          </a:p>
        </p:txBody>
      </p:sp>
      <p:sp>
        <p:nvSpPr>
          <p:cNvPr id="10" name="Text-Placeholder-16-11">
            <a:extLst xmlns:a="http://schemas.openxmlformats.org/drawingml/2006/main">
              <a:ext uri="{FF2B5EF4-FFF2-40B4-BE49-F238E27FC236}">
                <a16:creationId xmlns:a16="http://schemas.microsoft.com/office/drawing/2014/main" id="{C7516344-9E06-4680-ADF1-031A5B04BE59}"/>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New evidence</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Add reviewed labels, grouped sampling, calibration work, and an untouched test set.</a:t>
            </a:r>
          </a:p>
        </p:txBody>
      </p:sp>
      <p:sp>
        <p:nvSpPr>
          <p:cNvPr id="11" name="Text-Placeholder-16-12">
            <a:extLst xmlns:a="http://schemas.openxmlformats.org/drawingml/2006/main">
              <a:ext uri="{FF2B5EF4-FFF2-40B4-BE49-F238E27FC236}">
                <a16:creationId xmlns:a16="http://schemas.microsoft.com/office/drawing/2014/main" id="{258C1040-F580-484B-9801-5E6FB13EF0CF}"/>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Controlled workflow</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Show scoring, explanations, thresholds, human review, privacy, and safe failure.</a:t>
            </a:r>
          </a:p>
        </p:txBody>
      </p:sp>
      <p:sp>
        <p:nvSpPr>
          <p:cNvPr id="12" name="Text-Placeholder-16-13">
            <a:extLst xmlns:a="http://schemas.openxmlformats.org/drawingml/2006/main">
              <a:ext uri="{FF2B5EF4-FFF2-40B4-BE49-F238E27FC236}">
                <a16:creationId xmlns:a16="http://schemas.microsoft.com/office/drawing/2014/main" id="{82824048-48D6-4968-9744-36F44B22BC74}"/>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172033"/>
                </a:solidFill>
                <a:latin typeface="Helvetica Neue"/>
                <a:ea typeface="Helvetica Neue"/>
                <a:cs typeface="Helvetica Neue"/>
              </a:defRPr>
            </a:pPr>
            <a:r>
              <a:rPr sz="2400">
                <a:solidFill>
                  <a:srgbClr val="172033"/>
                </a:solidFill>
                <a:latin typeface="Helvetica Neue"/>
                <a:ea typeface="Helvetica Neue"/>
                <a:cs typeface="Helvetica Neue"/>
              </a:rPr>
              <a:t>Conditional review</a:t>
            </a:r>
          </a:p>
          <a:p xmlns:a="http://schemas.openxmlformats.org/drawingml/2006/main">
            <a:pPr algn="l">
              <a:lnSpc>
                <a:spcPct val="100000"/>
              </a:lnSpc>
              <a:buNone/>
              <a:defRPr sz="2400">
                <a:solidFill>
                  <a:srgbClr val="172033"/>
                </a:solidFill>
                <a:latin typeface="Helvetica Neue"/>
                <a:ea typeface="Helvetica Neue"/>
                <a:cs typeface="Helvetica Neue"/>
              </a:defRPr>
            </a:pPr>
            <a:r>
              <a:rPr sz="1600">
                <a:solidFill>
                  <a:srgbClr val="172033"/>
                </a:solidFill>
                <a:latin typeface="Helvetica Neue"/>
                <a:ea typeface="Helvetica Neue"/>
                <a:cs typeface="Helvetica Neue"/>
              </a:rPr>
              <a:t>A new versioned candidate must pass Gate B before any shadow-test recommendation.</a:t>
            </a:r>
          </a:p>
        </p:txBody>
      </p:sp>
    </p:spTree>
    <p:extLst>
      <p:ext uri="{BB962C8B-B14F-4D97-AF65-F5344CB8AC3E}">
        <p14:creationId xmlns:p14="http://schemas.microsoft.com/office/powerpoint/2010/main" val="1214051559"/>
      </p:ext>
    </p:extLst>
  </p:cSld>
</p:sld>
</file>

<file path=ppt/slides/slide11.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7A191C92-05C3-4BE3-8008-DE2708A77D76}"/>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FFFFFF"/>
                </a:solidFill>
                <a:latin typeface="Helvetica Neue"/>
                <a:ea typeface="Helvetica Neue"/>
                <a:cs typeface="Helvetica Neue"/>
              </a:defRPr>
            </a:pPr>
            <a:r>
              <a:rPr sz="6000">
                <a:solidFill>
                  <a:srgbClr val="FFFFFF"/>
                </a:solidFill>
                <a:latin typeface="Helvetica Neue"/>
                <a:ea typeface="Helvetica Neue"/>
                <a:cs typeface="Helvetica Neue"/>
              </a:rPr>
              <a:t>Repository</a:t>
            </a:r>
          </a:p>
          <a:p xmlns:a="http://schemas.openxmlformats.org/drawingml/2006/main">
            <a:pPr algn="l">
              <a:lnSpc>
                <a:spcPct val="100000"/>
              </a:lnSpc>
              <a:buNone/>
              <a:defRPr sz="6000">
                <a:solidFill>
                  <a:srgbClr val="FFFFFF"/>
                </a:solidFill>
                <a:latin typeface="Helvetica Neue"/>
                <a:ea typeface="Helvetica Neue"/>
                <a:cs typeface="Helvetica Neue"/>
              </a:defRPr>
            </a:pPr>
            <a:r>
              <a:rPr sz="6000">
                <a:solidFill>
                  <a:srgbClr val="FFFFFF"/>
                </a:solidFill>
                <a:latin typeface="Helvetica Neue"/>
                <a:ea typeface="Helvetica Neue"/>
                <a:cs typeface="Helvetica Neue"/>
              </a:rPr>
              <a:t>and contact</a:t>
            </a:r>
          </a:p>
        </p:txBody>
      </p:sp>
      <p:sp>
        <p:nvSpPr>
          <p:cNvPr id="2" name="Subtitle-4-2">
            <a:extLst xmlns:a="http://schemas.openxmlformats.org/drawingml/2006/main">
              <a:ext uri="{FF2B5EF4-FFF2-40B4-BE49-F238E27FC236}">
                <a16:creationId xmlns:a16="http://schemas.microsoft.com/office/drawing/2014/main" id="{AEE88714-FEEC-4322-9650-FF4D6B2AF25C}"/>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EA5E9"/>
                </a:solidFill>
                <a:latin typeface="Helvetica Neue"/>
                <a:ea typeface="Helvetica Neue"/>
                <a:cs typeface="Helvetica Neue"/>
              </a:defRPr>
            </a:pPr>
            <a:r>
              <a:rPr sz="1800">
                <a:solidFill>
                  <a:srgbClr val="0EA5E9"/>
                </a:solidFill>
                <a:latin typeface="Helvetica Neue"/>
                <a:ea typeface="Helvetica Neue"/>
                <a:cs typeface="Helvetica Neue"/>
                <a:hlinkClick xmlns:r="http://schemas.openxmlformats.org/officeDocument/2006/relationships" r:id="Rf553f73515984a1f"/>
              </a:rPr>
              <a:t>https://</a:t>
            </a:r>
            <a:r>
              <a:rPr sz="1800">
                <a:solidFill>
                  <a:srgbClr val="0EA5E9"/>
                </a:solidFill>
                <a:latin typeface="Helvetica Neue"/>
                <a:ea typeface="Helvetica Neue"/>
                <a:cs typeface="Helvetica Neue"/>
                <a:hlinkClick xmlns:r="http://schemas.openxmlformats.org/officeDocument/2006/relationships" r:id="Rf241cca88f4c4ee5"/>
              </a:rPr>
              <a:t>github.com</a:t>
            </a:r>
            <a:r>
              <a:rPr sz="1800">
                <a:solidFill>
                  <a:srgbClr val="0EA5E9"/>
                </a:solidFill>
                <a:latin typeface="Helvetica Neue"/>
                <a:ea typeface="Helvetica Neue"/>
                <a:cs typeface="Helvetica Neue"/>
                <a:hlinkClick xmlns:r="http://schemas.openxmlformats.org/officeDocument/2006/relationships" r:id="R62e4938bedec435c"/>
              </a:rPr>
              <a:t>/kbroussard34749/</a:t>
            </a:r>
          </a:p>
          <a:p xmlns:a="http://schemas.openxmlformats.org/drawingml/2006/main">
            <a:pPr algn="l">
              <a:lnSpc>
                <a:spcPct val="100000"/>
              </a:lnSpc>
              <a:buNone/>
              <a:defRPr sz="2400">
                <a:solidFill>
                  <a:srgbClr val="0EA5E9"/>
                </a:solidFill>
                <a:latin typeface="Helvetica Neue"/>
                <a:ea typeface="Helvetica Neue"/>
                <a:cs typeface="Helvetica Neue"/>
              </a:defRPr>
            </a:pPr>
            <a:r>
              <a:rPr sz="1800">
                <a:solidFill>
                  <a:srgbClr val="0EA5E9"/>
                </a:solidFill>
                <a:latin typeface="Helvetica Neue"/>
                <a:ea typeface="Helvetica Neue"/>
                <a:cs typeface="Helvetica Neue"/>
                <a:hlinkClick xmlns:r="http://schemas.openxmlformats.org/officeDocument/2006/relationships" r:id="Rd2303d45b9fa481e"/>
              </a:rPr>
              <a:t>explainable-ai-email-triage</a:t>
            </a:r>
            <a:endParaRPr sz="1800">
              <a:solidFill>
                <a:srgbClr val="000000"/>
              </a:solidFill>
              <a:latin typeface="Helvetica Neue"/>
              <a:ea typeface="Helvetica Neue"/>
              <a:cs typeface="Helvetica Neue"/>
            </a:endParaRPr>
          </a:p>
          <a:p xmlns:a="http://schemas.openxmlformats.org/drawingml/2006/main">
            <a:pPr algn="l">
              <a:lnSpc>
                <a:spcPct val="100000"/>
              </a:lnSpc>
              <a:buNone/>
              <a:defRPr sz="2400">
                <a:solidFill>
                  <a:srgbClr val="0EA5E9"/>
                </a:solidFill>
                <a:latin typeface="Helvetica Neue"/>
                <a:ea typeface="Helvetica Neue"/>
                <a:cs typeface="Helvetica Neue"/>
              </a:defRPr>
            </a:pPr>
            <a:r>
              <a:rPr sz="1800">
                <a:solidFill>
                  <a:srgbClr val="0EA5E9"/>
                </a:solidFill>
                <a:latin typeface="Helvetica Neue"/>
                <a:ea typeface="Helvetica Neue"/>
                <a:cs typeface="Helvetica Neue"/>
                <a:hlinkClick xmlns:r="http://schemas.openxmlformats.org/officeDocument/2006/relationships" r:id="Rf395ee9e3a55442a"/>
              </a:rPr>
              <a:t>kbroussard34749@ucumberlands.edu</a:t>
            </a:r>
            <a:endParaRPr sz="1800">
              <a:solidFill>
                <a:srgbClr val="000000"/>
              </a:solidFill>
              <a:latin typeface="Helvetica Neue"/>
              <a:ea typeface="Helvetica Neue"/>
              <a:cs typeface="Helvetica Neue"/>
            </a:endParaRPr>
          </a:p>
        </p:txBody>
      </p:sp>
      <p:sp>
        <p:nvSpPr>
          <p:cNvPr id="3" name="Subtitle-4-3">
            <a:extLst xmlns:a="http://schemas.openxmlformats.org/drawingml/2006/main">
              <a:ext uri="{FF2B5EF4-FFF2-40B4-BE49-F238E27FC236}">
                <a16:creationId xmlns:a16="http://schemas.microsoft.com/office/drawing/2014/main" id="{21C72EA5-65FA-4BD4-93D4-ED2D052F8F68}"/>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F59E0B"/>
                </a:solidFill>
                <a:latin typeface="Helvetica Neue"/>
                <a:ea typeface="Helvetica Neue"/>
                <a:cs typeface="Helvetica Neue"/>
              </a:defRPr>
            </a:pPr>
            <a:r>
              <a:rPr sz="1800">
                <a:solidFill>
                  <a:srgbClr val="F59E0B"/>
                </a:solidFill>
                <a:latin typeface="Helvetica Neue"/>
                <a:ea typeface="Helvetica Neue"/>
                <a:cs typeface="Helvetica Neue"/>
              </a:rPr>
              <a:t>PROJECT ACCESS</a:t>
            </a:r>
          </a:p>
        </p:txBody>
      </p:sp>
    </p:spTree>
    <p:extLst>
      <p:ext uri="{BB962C8B-B14F-4D97-AF65-F5344CB8AC3E}">
        <p14:creationId xmlns:p14="http://schemas.microsoft.com/office/powerpoint/2010/main" val="2795752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2026-08-15T05:43:10.9660000Z</dcterms:created>
  <dcterms:modified xsi:type="dcterms:W3CDTF">2026-08-15T05:43:10.9660000Z</dcterms:modified>
</coreProperties>
</file>